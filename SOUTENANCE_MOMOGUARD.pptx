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MoMoGuard, une plateforme de détection de fraude Mobile Money. L'axe du projet est la sécurité des utilisateurs humains : phishing, smishing et ingénierie sociale, dans le contexte du Mobile Money en RDC (Orange Money, Airtel Money, M-Pesa, Africell).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Mobile Money est vital en RDC mais l'utilisateur est le maillon faible : les attaques sont sociales, pas techniques. D'où la problématique : détecter et expliquer la fraude en temps réel, sur les appareils de l'utilisateur, avec son consentement.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objectifs : détecter les menaces sur l'appareil, expliquer chaque décision (pas de boîte noire), alerter en temps réel (WebSocket + push FCM), et le tout dans un cadre éthique fondé sur le consentement explicite.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agents (Android en Kotlin, Windows en Python) envoient les évènements suspects au serveur Flask via POST /report. Le serveur les score, les stocke (SQLAlchemy, portable SQLite/PostgreSQL/MySQL), pousse l'alerte au dashboard en WebSocket et renvoie une notification FCM au téléphone.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moteur est volontairement à base de règles : 14 règles additives, score 0-100, seuils 25/55. Le choix clé est l'explicabilité : chaque alerte liste les règles déclenchées. Exemple : un SMS avec domaine sosie en homoglyphes, TLD douteux, vocabulaire d'urgence et lien http obtient 99/100, niveau élevé.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couverture va au-delà du simple phishing : huit familles d'attaques observées dans l'écosystème Mobile Money, dont le SIM swap, le faux agent, l'arnaque au remboursement et les codes USSD dictés. Les règles distinguent aussi les messages protecteurs légitimes (« ne partagez jamais votre code ») des demandes frauduleuses.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client : application Android en Kotlin. Authentification Firebase avec MFA SMS et validation admin ; capture des SMS et des notifications avec consentement révocable ; service au premier plan ; notification FCM en retour ; stockage local chiffré.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serveur : Flask + SocketIO. 36 routes, 17 écrans, 58 tests pytest, base portable (SQLite en dev, PostgreSQL/MySQL en production). L'admin lui-même est protégé : 2FA TOTP, verrouillage anti force brute et journal d'audit. La threat intelligence Google Safe Browsing est optionnelle et dégradable : sans clé API, la détection par règles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Évaluation chiffrée sur 48 messages étiquetés représentatifs du contexte RDC : rappel 96,2 %, précision 100 %, zéro faux positif, F1 98 %. Le seul faux négatif — une promesse de multiplication d'argent sans lien ni urgence — a conduit à ajouter une règle dédiée. Limite assumée : le jeu de données reste réduit ; son extension fait partie des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piliers transverses. Éthique : consentement explicite et révocable, audit complet, l'endpoint /report refuse les rapports d'appareils non consentis. Fiabilité : 58 tests automatisés, benchmark reproductible, sauvegardes, secrets hors du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à la démonstration : j'envoie un vrai SMS frauduleux, l'agent Android le capture, l'alerte apparaît en direct sur le dashboard avec son score et ses raisons, et le téléphone reçoit la notification push. En cas de problème réseau, le dashboard intègre un bouton de simulation et une page d'analyse manuelle.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 une chaîne complète et mesurée, avec un cadre éthique solide. J'assume les limites — dataset réduit, règles statiques — qui ouvrent directement les perspectives : extension du dataset, hybridation avec du machine learning, agent iOS. Merci, je suis prêt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321040" y="1371600"/>
            <a:ext cx="4206240" cy="4206240"/>
          </a:xfrm>
          <a:prstGeom prst="ellipse">
            <a:avLst/>
          </a:prstGeom>
          <a:ln w="19050">
            <a:solidFill>
              <a:srgbClr val="16395F"/>
            </a:solidFill>
            <a:prstDash val="solid"/>
          </a:ln>
        </p:spPr>
      </p:sp>
      <p:sp>
        <p:nvSpPr>
          <p:cNvPr id="3" name="Shape 1"/>
          <p:cNvSpPr/>
          <p:nvPr/>
        </p:nvSpPr>
        <p:spPr>
          <a:xfrm>
            <a:off x="9052560" y="2103120"/>
            <a:ext cx="2743200" cy="2743200"/>
          </a:xfrm>
          <a:prstGeom prst="ellipse">
            <a:avLst/>
          </a:prstGeom>
          <a:ln w="19050">
            <a:solidFill>
              <a:srgbClr val="27507E"/>
            </a:solidFill>
            <a:prstDash val="solid"/>
          </a:ln>
        </p:spPr>
      </p:sp>
      <p:sp>
        <p:nvSpPr>
          <p:cNvPr id="4" name="Shape 2"/>
          <p:cNvSpPr/>
          <p:nvPr/>
        </p:nvSpPr>
        <p:spPr>
          <a:xfrm>
            <a:off x="9692640" y="2743200"/>
            <a:ext cx="1463040" cy="1463040"/>
          </a:xfrm>
          <a:prstGeom prst="ellipse">
            <a:avLst/>
          </a:prstGeom>
          <a:solidFill>
            <a:srgbClr val="E8862E"/>
          </a:solidFill>
          <a:ln/>
        </p:spPr>
      </p:sp>
      <p:sp>
        <p:nvSpPr>
          <p:cNvPr id="5" name="Text 3"/>
          <p:cNvSpPr/>
          <p:nvPr/>
        </p:nvSpPr>
        <p:spPr>
          <a:xfrm>
            <a:off x="9692640" y="2743200"/>
            <a:ext cx="1463040" cy="1463040"/>
          </a:xfrm>
          <a:prstGeom prst="rect">
            <a:avLst/>
          </a:prstGeom>
          <a:noFill/>
          <a:ln/>
        </p:spPr>
        <p:txBody>
          <a:bodyPr wrap="square" lIns="0" tIns="0" rIns="0" bIns="0" rtlCol="0" anchor="ctr"/>
          <a:lstStyle/>
          <a:p>
            <a:pPr algn="ctr" indent="0" marL="0">
              <a:buNone/>
            </a:pPr>
            <a:r>
              <a:rPr lang="en-US" sz="3000" b="1" dirty="0">
                <a:solidFill>
                  <a:srgbClr val="0E2A47"/>
                </a:solidFill>
                <a:latin typeface="Cambria" pitchFamily="34" charset="0"/>
                <a:ea typeface="Cambria" pitchFamily="34" charset="-122"/>
                <a:cs typeface="Cambria" pitchFamily="34" charset="-120"/>
              </a:rPr>
              <a:t>MG</a:t>
            </a:r>
            <a:endParaRPr lang="en-US" sz="3000" dirty="0"/>
          </a:p>
        </p:txBody>
      </p:sp>
      <p:sp>
        <p:nvSpPr>
          <p:cNvPr id="6" name="Text 4"/>
          <p:cNvSpPr/>
          <p:nvPr/>
        </p:nvSpPr>
        <p:spPr>
          <a:xfrm>
            <a:off x="731520" y="1554480"/>
            <a:ext cx="7315200" cy="320040"/>
          </a:xfrm>
          <a:prstGeom prst="rect">
            <a:avLst/>
          </a:prstGeom>
          <a:noFill/>
          <a:ln/>
        </p:spPr>
        <p:txBody>
          <a:bodyPr wrap="square" lIns="0" tIns="0" rIns="0" bIns="0" rtlCol="0" anchor="ctr"/>
          <a:lstStyle/>
          <a:p>
            <a:pPr indent="0" marL="0">
              <a:buNone/>
            </a:pPr>
            <a:r>
              <a:rPr lang="en-US" sz="1300" b="1" spc="300" kern="0" dirty="0">
                <a:solidFill>
                  <a:srgbClr val="E8862E"/>
                </a:solidFill>
                <a:latin typeface="Calibri" pitchFamily="34" charset="0"/>
                <a:ea typeface="Calibri" pitchFamily="34" charset="-122"/>
                <a:cs typeface="Calibri" pitchFamily="34" charset="-120"/>
              </a:rPr>
              <a:t>PROJET DE FIN D'ÉTUDES — LICENCE 4</a:t>
            </a:r>
            <a:endParaRPr lang="en-US" sz="1300" dirty="0"/>
          </a:p>
        </p:txBody>
      </p:sp>
      <p:sp>
        <p:nvSpPr>
          <p:cNvPr id="7" name="Text 5"/>
          <p:cNvSpPr/>
          <p:nvPr/>
        </p:nvSpPr>
        <p:spPr>
          <a:xfrm>
            <a:off x="731520" y="1920240"/>
            <a:ext cx="749808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MoMoGuard</a:t>
            </a:r>
            <a:endParaRPr lang="en-US" sz="6000" dirty="0"/>
          </a:p>
        </p:txBody>
      </p:sp>
      <p:sp>
        <p:nvSpPr>
          <p:cNvPr id="8" name="Text 6"/>
          <p:cNvSpPr/>
          <p:nvPr/>
        </p:nvSpPr>
        <p:spPr>
          <a:xfrm>
            <a:off x="731520" y="2971800"/>
            <a:ext cx="6949440" cy="82296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Plateforme consentie de détection de fraude Mobile Money</a:t>
            </a:r>
            <a:endParaRPr lang="en-US" sz="2000" dirty="0"/>
          </a:p>
        </p:txBody>
      </p:sp>
      <p:sp>
        <p:nvSpPr>
          <p:cNvPr id="9" name="Text 7"/>
          <p:cNvSpPr/>
          <p:nvPr/>
        </p:nvSpPr>
        <p:spPr>
          <a:xfrm>
            <a:off x="731520" y="3794760"/>
            <a:ext cx="6949440" cy="365760"/>
          </a:xfrm>
          <a:prstGeom prst="rect">
            <a:avLst/>
          </a:prstGeom>
          <a:noFill/>
          <a:ln/>
        </p:spPr>
        <p:txBody>
          <a:bodyPr wrap="square" lIns="0" tIns="0" rIns="0" bIns="0" rtlCol="0" anchor="ctr"/>
          <a:lstStyle/>
          <a:p>
            <a:pPr indent="0" marL="0">
              <a:buNone/>
            </a:pPr>
            <a:r>
              <a:rPr lang="en-US" sz="1300" i="1" dirty="0">
                <a:solidFill>
                  <a:srgbClr val="8FA9C4"/>
                </a:solidFill>
                <a:latin typeface="Calibri" pitchFamily="34" charset="0"/>
                <a:ea typeface="Calibri" pitchFamily="34" charset="-122"/>
                <a:cs typeface="Calibri" pitchFamily="34" charset="-120"/>
              </a:rPr>
              <a:t>Phishing · Smishing · Ingénierie sociale — contexte Mobile Money en RDC</a:t>
            </a:r>
            <a:endParaRPr lang="en-US" sz="1300" dirty="0"/>
          </a:p>
        </p:txBody>
      </p:sp>
      <p:sp>
        <p:nvSpPr>
          <p:cNvPr id="10" name="Text 8"/>
          <p:cNvSpPr/>
          <p:nvPr/>
        </p:nvSpPr>
        <p:spPr>
          <a:xfrm>
            <a:off x="731520" y="5120640"/>
            <a:ext cx="5486400" cy="64008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Présenté par : [Prénom NOM]</a:t>
            </a: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Soutenance — Juillet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E8862E"/>
                </a:solidFill>
                <a:latin typeface="Calibri" pitchFamily="34" charset="0"/>
                <a:ea typeface="Calibri" pitchFamily="34" charset="-122"/>
                <a:cs typeface="Calibri" pitchFamily="34" charset="-120"/>
              </a:rPr>
              <a:t>CONTEXTE</a:t>
            </a:r>
            <a:endParaRPr lang="en-US" sz="11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Le Mobile Money, cible privilégiée de la fraude</a:t>
            </a:r>
            <a:endParaRPr lang="en-US" sz="3200" dirty="0"/>
          </a:p>
        </p:txBody>
      </p:sp>
      <p:sp>
        <p:nvSpPr>
          <p:cNvPr id="4" name="Shape 2"/>
          <p:cNvSpPr/>
          <p:nvPr/>
        </p:nvSpPr>
        <p:spPr>
          <a:xfrm>
            <a:off x="640080" y="1655064"/>
            <a:ext cx="384048" cy="384048"/>
          </a:xfrm>
          <a:prstGeom prst="ellipse">
            <a:avLst/>
          </a:prstGeom>
          <a:solidFill>
            <a:srgbClr val="0E2A47"/>
          </a:solidFill>
          <a:ln/>
        </p:spPr>
      </p:sp>
      <p:sp>
        <p:nvSpPr>
          <p:cNvPr id="5" name="Text 3"/>
          <p:cNvSpPr/>
          <p:nvPr/>
        </p:nvSpPr>
        <p:spPr>
          <a:xfrm>
            <a:off x="640080" y="16413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34440" y="1554480"/>
            <a:ext cx="5760720" cy="32004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Un service vital</a:t>
            </a:r>
            <a:endParaRPr lang="en-US" sz="1600" dirty="0"/>
          </a:p>
        </p:txBody>
      </p:sp>
      <p:sp>
        <p:nvSpPr>
          <p:cNvPr id="7" name="Text 5"/>
          <p:cNvSpPr/>
          <p:nvPr/>
        </p:nvSpPr>
        <p:spPr>
          <a:xfrm>
            <a:off x="1234440" y="1874520"/>
            <a:ext cx="5760720" cy="914400"/>
          </a:xfrm>
          <a:prstGeom prst="rect">
            <a:avLst/>
          </a:prstGeom>
          <a:noFill/>
          <a:ln/>
        </p:spPr>
        <p:txBody>
          <a:bodyPr wrap="square" lIns="0" tIns="0" rIns="0" bIns="0" rtlCol="0" anchor="ctr"/>
          <a:lstStyle/>
          <a:p>
            <a:pPr indent="0" marL="0">
              <a:buNone/>
            </a:pPr>
            <a:r>
              <a:rPr lang="en-US" sz="1300" dirty="0">
                <a:solidFill>
                  <a:srgbClr val="5B6B7C"/>
                </a:solidFill>
                <a:latin typeface="Calibri" pitchFamily="34" charset="0"/>
                <a:ea typeface="Calibri" pitchFamily="34" charset="-122"/>
                <a:cs typeface="Calibri" pitchFamily="34" charset="-120"/>
              </a:rPr>
              <a:t>En RDC, le Mobile Money (Orange Money, Airtel Money, M-Pesa, Africell) est le principal moyen de paiement de millions de personnes, souvent sans compte bancaire.</a:t>
            </a:r>
            <a:endParaRPr lang="en-US" sz="1300" dirty="0"/>
          </a:p>
        </p:txBody>
      </p:sp>
      <p:sp>
        <p:nvSpPr>
          <p:cNvPr id="8" name="Shape 6"/>
          <p:cNvSpPr/>
          <p:nvPr/>
        </p:nvSpPr>
        <p:spPr>
          <a:xfrm>
            <a:off x="640080" y="3072384"/>
            <a:ext cx="384048" cy="384048"/>
          </a:xfrm>
          <a:prstGeom prst="ellipse">
            <a:avLst/>
          </a:prstGeom>
          <a:solidFill>
            <a:srgbClr val="E8862E"/>
          </a:solidFill>
          <a:ln/>
        </p:spPr>
      </p:sp>
      <p:sp>
        <p:nvSpPr>
          <p:cNvPr id="9" name="Text 7"/>
          <p:cNvSpPr/>
          <p:nvPr/>
        </p:nvSpPr>
        <p:spPr>
          <a:xfrm>
            <a:off x="640080" y="30586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34440" y="2971800"/>
            <a:ext cx="5760720" cy="32004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Le maillon faible : l'humain</a:t>
            </a:r>
            <a:endParaRPr lang="en-US" sz="1600" dirty="0"/>
          </a:p>
        </p:txBody>
      </p:sp>
      <p:sp>
        <p:nvSpPr>
          <p:cNvPr id="11" name="Text 9"/>
          <p:cNvSpPr/>
          <p:nvPr/>
        </p:nvSpPr>
        <p:spPr>
          <a:xfrm>
            <a:off x="1234440" y="3291840"/>
            <a:ext cx="5760720" cy="914400"/>
          </a:xfrm>
          <a:prstGeom prst="rect">
            <a:avLst/>
          </a:prstGeom>
          <a:noFill/>
          <a:ln/>
        </p:spPr>
        <p:txBody>
          <a:bodyPr wrap="square" lIns="0" tIns="0" rIns="0" bIns="0" rtlCol="0" anchor="ctr"/>
          <a:lstStyle/>
          <a:p>
            <a:pPr indent="0" marL="0">
              <a:buNone/>
            </a:pPr>
            <a:r>
              <a:rPr lang="en-US" sz="1300" dirty="0">
                <a:solidFill>
                  <a:srgbClr val="5B6B7C"/>
                </a:solidFill>
                <a:latin typeface="Calibri" pitchFamily="34" charset="0"/>
                <a:ea typeface="Calibri" pitchFamily="34" charset="-122"/>
                <a:cs typeface="Calibri" pitchFamily="34" charset="-120"/>
              </a:rPr>
              <a:t>Les fraudeurs n'attaquent pas la cryptographie des opérateurs — ils manipulent l'utilisateur : SMS piégés, faux agents, liens sosies, pression et urgence.</a:t>
            </a:r>
            <a:endParaRPr lang="en-US" sz="1300" dirty="0"/>
          </a:p>
        </p:txBody>
      </p:sp>
      <p:sp>
        <p:nvSpPr>
          <p:cNvPr id="12" name="Shape 10"/>
          <p:cNvSpPr/>
          <p:nvPr/>
        </p:nvSpPr>
        <p:spPr>
          <a:xfrm>
            <a:off x="640080" y="4489704"/>
            <a:ext cx="384048" cy="384048"/>
          </a:xfrm>
          <a:prstGeom prst="ellipse">
            <a:avLst/>
          </a:prstGeom>
          <a:solidFill>
            <a:srgbClr val="0E2A47"/>
          </a:solidFill>
          <a:ln/>
        </p:spPr>
      </p:sp>
      <p:sp>
        <p:nvSpPr>
          <p:cNvPr id="13" name="Text 11"/>
          <p:cNvSpPr/>
          <p:nvPr/>
        </p:nvSpPr>
        <p:spPr>
          <a:xfrm>
            <a:off x="640080" y="44759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34440" y="4389120"/>
            <a:ext cx="5760720" cy="32004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Peu d'outils de protection</a:t>
            </a:r>
            <a:endParaRPr lang="en-US" sz="1600" dirty="0"/>
          </a:p>
        </p:txBody>
      </p:sp>
      <p:sp>
        <p:nvSpPr>
          <p:cNvPr id="15" name="Text 13"/>
          <p:cNvSpPr/>
          <p:nvPr/>
        </p:nvSpPr>
        <p:spPr>
          <a:xfrm>
            <a:off x="1234440" y="4709160"/>
            <a:ext cx="5760720" cy="914400"/>
          </a:xfrm>
          <a:prstGeom prst="rect">
            <a:avLst/>
          </a:prstGeom>
          <a:noFill/>
          <a:ln/>
        </p:spPr>
        <p:txBody>
          <a:bodyPr wrap="square" lIns="0" tIns="0" rIns="0" bIns="0" rtlCol="0" anchor="ctr"/>
          <a:lstStyle/>
          <a:p>
            <a:pPr indent="0" marL="0">
              <a:buNone/>
            </a:pPr>
            <a:r>
              <a:rPr lang="en-US" sz="1300" dirty="0">
                <a:solidFill>
                  <a:srgbClr val="5B6B7C"/>
                </a:solidFill>
                <a:latin typeface="Calibri" pitchFamily="34" charset="0"/>
                <a:ea typeface="Calibri" pitchFamily="34" charset="-122"/>
                <a:cs typeface="Calibri" pitchFamily="34" charset="-120"/>
              </a:rPr>
              <a:t>Les solutions grand public filtrent mal le vocabulaire, les numéros et les schémas d'arnaque propres au contexte congolais.</a:t>
            </a:r>
            <a:endParaRPr lang="en-US" sz="1300" dirty="0"/>
          </a:p>
        </p:txBody>
      </p:sp>
      <p:sp>
        <p:nvSpPr>
          <p:cNvPr id="16" name="Shape 14"/>
          <p:cNvSpPr/>
          <p:nvPr/>
        </p:nvSpPr>
        <p:spPr>
          <a:xfrm>
            <a:off x="7498080" y="1691640"/>
            <a:ext cx="4114800" cy="3840480"/>
          </a:xfrm>
          <a:prstGeom prst="roundRect">
            <a:avLst>
              <a:gd name="adj" fmla="val 2857"/>
            </a:avLst>
          </a:prstGeom>
          <a:solidFill>
            <a:srgbClr val="0E2A47"/>
          </a:solidFill>
          <a:ln/>
          <a:effectLst>
            <a:outerShdw sx="100000" sy="100000" kx="0" ky="0" algn="bl" rotWithShape="0" blurRad="101600" dist="38100" dir="5400000">
              <a:srgbClr val="9AA7B4">
                <a:alpha val="35000"/>
              </a:srgbClr>
            </a:outerShdw>
          </a:effectLst>
        </p:spPr>
      </p:sp>
      <p:sp>
        <p:nvSpPr>
          <p:cNvPr id="17" name="Text 15"/>
          <p:cNvSpPr/>
          <p:nvPr/>
        </p:nvSpPr>
        <p:spPr>
          <a:xfrm>
            <a:off x="7909560" y="2057400"/>
            <a:ext cx="3291840" cy="274320"/>
          </a:xfrm>
          <a:prstGeom prst="rect">
            <a:avLst/>
          </a:prstGeom>
          <a:noFill/>
          <a:ln/>
        </p:spPr>
        <p:txBody>
          <a:bodyPr wrap="square" lIns="0" tIns="0" rIns="0" bIns="0" rtlCol="0" anchor="ctr"/>
          <a:lstStyle/>
          <a:p>
            <a:pPr indent="0" marL="0">
              <a:buNone/>
            </a:pPr>
            <a:r>
              <a:rPr lang="en-US" sz="1100" b="1" spc="200" kern="0" dirty="0">
                <a:solidFill>
                  <a:srgbClr val="E8862E"/>
                </a:solidFill>
                <a:latin typeface="Calibri" pitchFamily="34" charset="0"/>
                <a:ea typeface="Calibri" pitchFamily="34" charset="-122"/>
                <a:cs typeface="Calibri" pitchFamily="34" charset="-120"/>
              </a:rPr>
              <a:t>PROBLÉMATIQUE</a:t>
            </a:r>
            <a:endParaRPr lang="en-US" sz="1100" dirty="0"/>
          </a:p>
        </p:txBody>
      </p:sp>
      <p:sp>
        <p:nvSpPr>
          <p:cNvPr id="18" name="Text 16"/>
          <p:cNvSpPr/>
          <p:nvPr/>
        </p:nvSpPr>
        <p:spPr>
          <a:xfrm>
            <a:off x="7909560" y="2423160"/>
            <a:ext cx="3291840" cy="219456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ambria" pitchFamily="34" charset="0"/>
                <a:ea typeface="Cambria" pitchFamily="34" charset="-122"/>
                <a:cs typeface="Cambria" pitchFamily="34" charset="-120"/>
              </a:rPr>
              <a:t>Comment détecter, expliquer et signaler en temps réel les tentatives de fraude Mobile Money, directement sur les appareils des utilisateurs, avec leur consentement ?</a:t>
            </a:r>
            <a:endParaRPr lang="en-US" sz="1600" dirty="0"/>
          </a:p>
        </p:txBody>
      </p:sp>
      <p:sp>
        <p:nvSpPr>
          <p:cNvPr id="19" name="Text 17"/>
          <p:cNvSpPr/>
          <p:nvPr/>
        </p:nvSpPr>
        <p:spPr>
          <a:xfrm>
            <a:off x="7909560" y="4663440"/>
            <a:ext cx="3291840" cy="73152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Réponse : des agents locaux + un moteur de scoring explicable + un serveur de supervision.</a:t>
            </a:r>
            <a:endParaRPr lang="en-US" sz="1200" dirty="0"/>
          </a:p>
        </p:txBody>
      </p:sp>
      <p:sp>
        <p:nvSpPr>
          <p:cNvPr id="21" name="Text 18"/>
          <p:cNvSpPr/>
          <p:nvPr/>
        </p:nvSpPr>
        <p:spPr>
          <a:xfrm>
            <a:off x="11503152" y="640080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E8862E"/>
                </a:solidFill>
                <a:latin typeface="Calibri" pitchFamily="34" charset="0"/>
                <a:ea typeface="Calibri" pitchFamily="34" charset="-122"/>
                <a:cs typeface="Calibri" pitchFamily="34" charset="-120"/>
              </a:rPr>
              <a:t>OBJECTIFS</a:t>
            </a:r>
            <a:endParaRPr lang="en-US" sz="11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Quatre engagements du projet</a:t>
            </a:r>
            <a:endParaRPr lang="en-US" sz="3200" dirty="0"/>
          </a:p>
        </p:txBody>
      </p:sp>
      <p:sp>
        <p:nvSpPr>
          <p:cNvPr id="4" name="Shape 2"/>
          <p:cNvSpPr/>
          <p:nvPr/>
        </p:nvSpPr>
        <p:spPr>
          <a:xfrm>
            <a:off x="640080" y="1737360"/>
            <a:ext cx="5440680" cy="1783080"/>
          </a:xfrm>
          <a:prstGeom prst="roundRect">
            <a:avLst>
              <a:gd name="adj" fmla="val 5128"/>
            </a:avLst>
          </a:prstGeom>
          <a:solidFill>
            <a:srgbClr val="F3F6FA"/>
          </a:solidFill>
          <a:ln/>
        </p:spPr>
      </p:sp>
      <p:sp>
        <p:nvSpPr>
          <p:cNvPr id="5" name="Shape 3"/>
          <p:cNvSpPr/>
          <p:nvPr/>
        </p:nvSpPr>
        <p:spPr>
          <a:xfrm>
            <a:off x="960120" y="2057400"/>
            <a:ext cx="457200" cy="457200"/>
          </a:xfrm>
          <a:prstGeom prst="ellipse">
            <a:avLst/>
          </a:prstGeom>
          <a:solidFill>
            <a:srgbClr val="0E2A47"/>
          </a:solidFill>
          <a:ln/>
        </p:spPr>
      </p:sp>
      <p:sp>
        <p:nvSpPr>
          <p:cNvPr id="6" name="Text 4"/>
          <p:cNvSpPr/>
          <p:nvPr/>
        </p:nvSpPr>
        <p:spPr>
          <a:xfrm>
            <a:off x="960120" y="203911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00200" y="1993392"/>
            <a:ext cx="4251960" cy="365760"/>
          </a:xfrm>
          <a:prstGeom prst="rect">
            <a:avLst/>
          </a:prstGeom>
          <a:noFill/>
          <a:ln/>
        </p:spPr>
        <p:txBody>
          <a:bodyPr wrap="square" lIns="0" tIns="0" rIns="0" bIns="0" rtlCol="0" anchor="ctr"/>
          <a:lstStyle/>
          <a:p>
            <a:pPr indent="0" marL="0">
              <a:buNone/>
            </a:pPr>
            <a:r>
              <a:rPr lang="en-US" sz="1700" b="1" dirty="0">
                <a:solidFill>
                  <a:srgbClr val="1B2A3A"/>
                </a:solidFill>
                <a:latin typeface="Calibri" pitchFamily="34" charset="0"/>
                <a:ea typeface="Calibri" pitchFamily="34" charset="-122"/>
                <a:cs typeface="Calibri" pitchFamily="34" charset="-120"/>
              </a:rPr>
              <a:t>Détecter</a:t>
            </a:r>
            <a:endParaRPr lang="en-US" sz="1700" dirty="0"/>
          </a:p>
        </p:txBody>
      </p:sp>
      <p:sp>
        <p:nvSpPr>
          <p:cNvPr id="8" name="Text 6"/>
          <p:cNvSpPr/>
          <p:nvPr/>
        </p:nvSpPr>
        <p:spPr>
          <a:xfrm>
            <a:off x="1600200" y="2395728"/>
            <a:ext cx="4206240" cy="100584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Analyser SMS, notifications, liens et presse-papiers avec un moteur de scoring par règles (0–100).</a:t>
            </a:r>
            <a:endParaRPr lang="en-US" sz="1250" dirty="0"/>
          </a:p>
        </p:txBody>
      </p:sp>
      <p:sp>
        <p:nvSpPr>
          <p:cNvPr id="9" name="Shape 7"/>
          <p:cNvSpPr/>
          <p:nvPr/>
        </p:nvSpPr>
        <p:spPr>
          <a:xfrm>
            <a:off x="6492240" y="1737360"/>
            <a:ext cx="5440680" cy="1783080"/>
          </a:xfrm>
          <a:prstGeom prst="roundRect">
            <a:avLst>
              <a:gd name="adj" fmla="val 5128"/>
            </a:avLst>
          </a:prstGeom>
          <a:solidFill>
            <a:srgbClr val="F3F6FA"/>
          </a:solidFill>
          <a:ln/>
        </p:spPr>
      </p:sp>
      <p:sp>
        <p:nvSpPr>
          <p:cNvPr id="10" name="Shape 8"/>
          <p:cNvSpPr/>
          <p:nvPr/>
        </p:nvSpPr>
        <p:spPr>
          <a:xfrm>
            <a:off x="6812280" y="2057400"/>
            <a:ext cx="457200" cy="457200"/>
          </a:xfrm>
          <a:prstGeom prst="ellipse">
            <a:avLst/>
          </a:prstGeom>
          <a:solidFill>
            <a:srgbClr val="E8862E"/>
          </a:solidFill>
          <a:ln/>
        </p:spPr>
      </p:sp>
      <p:sp>
        <p:nvSpPr>
          <p:cNvPr id="11" name="Text 9"/>
          <p:cNvSpPr/>
          <p:nvPr/>
        </p:nvSpPr>
        <p:spPr>
          <a:xfrm>
            <a:off x="6812280" y="203911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7452360" y="1993392"/>
            <a:ext cx="4251960" cy="365760"/>
          </a:xfrm>
          <a:prstGeom prst="rect">
            <a:avLst/>
          </a:prstGeom>
          <a:noFill/>
          <a:ln/>
        </p:spPr>
        <p:txBody>
          <a:bodyPr wrap="square" lIns="0" tIns="0" rIns="0" bIns="0" rtlCol="0" anchor="ctr"/>
          <a:lstStyle/>
          <a:p>
            <a:pPr indent="0" marL="0">
              <a:buNone/>
            </a:pPr>
            <a:r>
              <a:rPr lang="en-US" sz="1700" b="1" dirty="0">
                <a:solidFill>
                  <a:srgbClr val="1B2A3A"/>
                </a:solidFill>
                <a:latin typeface="Calibri" pitchFamily="34" charset="0"/>
                <a:ea typeface="Calibri" pitchFamily="34" charset="-122"/>
                <a:cs typeface="Calibri" pitchFamily="34" charset="-120"/>
              </a:rPr>
              <a:t>Expliquer</a:t>
            </a:r>
            <a:endParaRPr lang="en-US" sz="1700" dirty="0"/>
          </a:p>
        </p:txBody>
      </p:sp>
      <p:sp>
        <p:nvSpPr>
          <p:cNvPr id="13" name="Text 11"/>
          <p:cNvSpPr/>
          <p:nvPr/>
        </p:nvSpPr>
        <p:spPr>
          <a:xfrm>
            <a:off x="7452360" y="2395728"/>
            <a:ext cx="4206240" cy="100584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Chaque alerte est justifiée : la liste des règles déclenchées est présentée à l'utilisateur et au jury.</a:t>
            </a:r>
            <a:endParaRPr lang="en-US" sz="1250" dirty="0"/>
          </a:p>
        </p:txBody>
      </p:sp>
      <p:sp>
        <p:nvSpPr>
          <p:cNvPr id="14" name="Shape 12"/>
          <p:cNvSpPr/>
          <p:nvPr/>
        </p:nvSpPr>
        <p:spPr>
          <a:xfrm>
            <a:off x="640080" y="3931920"/>
            <a:ext cx="5440680" cy="1783080"/>
          </a:xfrm>
          <a:prstGeom prst="roundRect">
            <a:avLst>
              <a:gd name="adj" fmla="val 5128"/>
            </a:avLst>
          </a:prstGeom>
          <a:solidFill>
            <a:srgbClr val="F3F6FA"/>
          </a:solidFill>
          <a:ln/>
        </p:spPr>
      </p:sp>
      <p:sp>
        <p:nvSpPr>
          <p:cNvPr id="15" name="Shape 13"/>
          <p:cNvSpPr/>
          <p:nvPr/>
        </p:nvSpPr>
        <p:spPr>
          <a:xfrm>
            <a:off x="960120" y="4251960"/>
            <a:ext cx="457200" cy="457200"/>
          </a:xfrm>
          <a:prstGeom prst="ellipse">
            <a:avLst/>
          </a:prstGeom>
          <a:solidFill>
            <a:srgbClr val="2E8C7F"/>
          </a:solidFill>
          <a:ln/>
        </p:spPr>
      </p:sp>
      <p:sp>
        <p:nvSpPr>
          <p:cNvPr id="16" name="Text 14"/>
          <p:cNvSpPr/>
          <p:nvPr/>
        </p:nvSpPr>
        <p:spPr>
          <a:xfrm>
            <a:off x="960120" y="42336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600200" y="4187952"/>
            <a:ext cx="4251960" cy="365760"/>
          </a:xfrm>
          <a:prstGeom prst="rect">
            <a:avLst/>
          </a:prstGeom>
          <a:noFill/>
          <a:ln/>
        </p:spPr>
        <p:txBody>
          <a:bodyPr wrap="square" lIns="0" tIns="0" rIns="0" bIns="0" rtlCol="0" anchor="ctr"/>
          <a:lstStyle/>
          <a:p>
            <a:pPr indent="0" marL="0">
              <a:buNone/>
            </a:pPr>
            <a:r>
              <a:rPr lang="en-US" sz="1700" b="1" dirty="0">
                <a:solidFill>
                  <a:srgbClr val="1B2A3A"/>
                </a:solidFill>
                <a:latin typeface="Calibri" pitchFamily="34" charset="0"/>
                <a:ea typeface="Calibri" pitchFamily="34" charset="-122"/>
                <a:cs typeface="Calibri" pitchFamily="34" charset="-120"/>
              </a:rPr>
              <a:t>Alerter en temps réel</a:t>
            </a:r>
            <a:endParaRPr lang="en-US" sz="1700" dirty="0"/>
          </a:p>
        </p:txBody>
      </p:sp>
      <p:sp>
        <p:nvSpPr>
          <p:cNvPr id="18" name="Text 16"/>
          <p:cNvSpPr/>
          <p:nvPr/>
        </p:nvSpPr>
        <p:spPr>
          <a:xfrm>
            <a:off x="1600200" y="4590288"/>
            <a:ext cx="4206240" cy="100584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Remontée au serveur central, dashboard WebSocket instantané et notification push FCM sur le téléphone.</a:t>
            </a:r>
            <a:endParaRPr lang="en-US" sz="1250" dirty="0"/>
          </a:p>
        </p:txBody>
      </p:sp>
      <p:sp>
        <p:nvSpPr>
          <p:cNvPr id="19" name="Shape 17"/>
          <p:cNvSpPr/>
          <p:nvPr/>
        </p:nvSpPr>
        <p:spPr>
          <a:xfrm>
            <a:off x="6492240" y="3931920"/>
            <a:ext cx="5440680" cy="1783080"/>
          </a:xfrm>
          <a:prstGeom prst="roundRect">
            <a:avLst>
              <a:gd name="adj" fmla="val 5128"/>
            </a:avLst>
          </a:prstGeom>
          <a:solidFill>
            <a:srgbClr val="F3F6FA"/>
          </a:solidFill>
          <a:ln/>
        </p:spPr>
      </p:sp>
      <p:sp>
        <p:nvSpPr>
          <p:cNvPr id="20" name="Shape 18"/>
          <p:cNvSpPr/>
          <p:nvPr/>
        </p:nvSpPr>
        <p:spPr>
          <a:xfrm>
            <a:off x="6812280" y="4251960"/>
            <a:ext cx="457200" cy="457200"/>
          </a:xfrm>
          <a:prstGeom prst="ellipse">
            <a:avLst/>
          </a:prstGeom>
          <a:solidFill>
            <a:srgbClr val="C0442C"/>
          </a:solidFill>
          <a:ln/>
        </p:spPr>
      </p:sp>
      <p:sp>
        <p:nvSpPr>
          <p:cNvPr id="21" name="Text 19"/>
          <p:cNvSpPr/>
          <p:nvPr/>
        </p:nvSpPr>
        <p:spPr>
          <a:xfrm>
            <a:off x="6812280" y="42336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7452360" y="4187952"/>
            <a:ext cx="4251960" cy="365760"/>
          </a:xfrm>
          <a:prstGeom prst="rect">
            <a:avLst/>
          </a:prstGeom>
          <a:noFill/>
          <a:ln/>
        </p:spPr>
        <p:txBody>
          <a:bodyPr wrap="square" lIns="0" tIns="0" rIns="0" bIns="0" rtlCol="0" anchor="ctr"/>
          <a:lstStyle/>
          <a:p>
            <a:pPr indent="0" marL="0">
              <a:buNone/>
            </a:pPr>
            <a:r>
              <a:rPr lang="en-US" sz="1700" b="1" dirty="0">
                <a:solidFill>
                  <a:srgbClr val="1B2A3A"/>
                </a:solidFill>
                <a:latin typeface="Calibri" pitchFamily="34" charset="0"/>
                <a:ea typeface="Calibri" pitchFamily="34" charset="-122"/>
                <a:cs typeface="Calibri" pitchFamily="34" charset="-120"/>
              </a:rPr>
              <a:t>Respecter l'utilisateur</a:t>
            </a:r>
            <a:endParaRPr lang="en-US" sz="1700" dirty="0"/>
          </a:p>
        </p:txBody>
      </p:sp>
      <p:sp>
        <p:nvSpPr>
          <p:cNvPr id="23" name="Text 21"/>
          <p:cNvSpPr/>
          <p:nvPr/>
        </p:nvSpPr>
        <p:spPr>
          <a:xfrm>
            <a:off x="7452360" y="4590288"/>
            <a:ext cx="4206240" cy="100584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Agents installés uniquement avec consentement explicite, révocable ; journal d'audit complet.</a:t>
            </a:r>
            <a:endParaRPr lang="en-US" sz="1250" dirty="0"/>
          </a:p>
        </p:txBody>
      </p:sp>
      <p:sp>
        <p:nvSpPr>
          <p:cNvPr id="25" name="Text 22"/>
          <p:cNvSpPr/>
          <p:nvPr/>
        </p:nvSpPr>
        <p:spPr>
          <a:xfrm>
            <a:off x="11503152" y="640080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E8862E"/>
                </a:solidFill>
                <a:latin typeface="Calibri" pitchFamily="34" charset="0"/>
                <a:ea typeface="Calibri" pitchFamily="34" charset="-122"/>
                <a:cs typeface="Calibri" pitchFamily="34" charset="-120"/>
              </a:rPr>
              <a:t>CONCEPTION</a:t>
            </a:r>
            <a:endParaRPr lang="en-US" sz="11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Architecture générale</a:t>
            </a:r>
            <a:endParaRPr lang="en-US" sz="3200" dirty="0"/>
          </a:p>
        </p:txBody>
      </p:sp>
      <p:sp>
        <p:nvSpPr>
          <p:cNvPr id="4" name="Shape 2"/>
          <p:cNvSpPr/>
          <p:nvPr/>
        </p:nvSpPr>
        <p:spPr>
          <a:xfrm>
            <a:off x="640080" y="1920240"/>
            <a:ext cx="2834640" cy="1188720"/>
          </a:xfrm>
          <a:prstGeom prst="roundRect">
            <a:avLst>
              <a:gd name="adj" fmla="val 6154"/>
            </a:avLst>
          </a:prstGeom>
          <a:solidFill>
            <a:srgbClr val="F3F6FA"/>
          </a:solidFill>
          <a:ln w="12700">
            <a:solidFill>
              <a:srgbClr val="D5DEE8"/>
            </a:solidFill>
            <a:prstDash val="solid"/>
          </a:ln>
        </p:spPr>
      </p:sp>
      <p:sp>
        <p:nvSpPr>
          <p:cNvPr id="5" name="Text 3"/>
          <p:cNvSpPr/>
          <p:nvPr/>
        </p:nvSpPr>
        <p:spPr>
          <a:xfrm>
            <a:off x="777240" y="2029968"/>
            <a:ext cx="2560320" cy="32004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Agent Android (Kotlin)</a:t>
            </a:r>
            <a:endParaRPr lang="en-US" sz="1400" dirty="0"/>
          </a:p>
        </p:txBody>
      </p:sp>
      <p:sp>
        <p:nvSpPr>
          <p:cNvPr id="6" name="Text 4"/>
          <p:cNvSpPr/>
          <p:nvPr/>
        </p:nvSpPr>
        <p:spPr>
          <a:xfrm>
            <a:off x="777240" y="2359152"/>
            <a:ext cx="2560320" cy="64008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Capture SMS + notifications · Firebase Auth · MFA · service premier plan</a:t>
            </a:r>
            <a:endParaRPr lang="en-US" sz="1050" dirty="0"/>
          </a:p>
        </p:txBody>
      </p:sp>
      <p:sp>
        <p:nvSpPr>
          <p:cNvPr id="7" name="Shape 5"/>
          <p:cNvSpPr/>
          <p:nvPr/>
        </p:nvSpPr>
        <p:spPr>
          <a:xfrm>
            <a:off x="640080" y="3931920"/>
            <a:ext cx="2834640" cy="1188720"/>
          </a:xfrm>
          <a:prstGeom prst="roundRect">
            <a:avLst>
              <a:gd name="adj" fmla="val 6154"/>
            </a:avLst>
          </a:prstGeom>
          <a:solidFill>
            <a:srgbClr val="F3F6FA"/>
          </a:solidFill>
          <a:ln w="12700">
            <a:solidFill>
              <a:srgbClr val="D5DEE8"/>
            </a:solidFill>
            <a:prstDash val="solid"/>
          </a:ln>
        </p:spPr>
      </p:sp>
      <p:sp>
        <p:nvSpPr>
          <p:cNvPr id="8" name="Text 6"/>
          <p:cNvSpPr/>
          <p:nvPr/>
        </p:nvSpPr>
        <p:spPr>
          <a:xfrm>
            <a:off x="777240" y="4041648"/>
            <a:ext cx="2560320" cy="32004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Agent Windows (Python)</a:t>
            </a:r>
            <a:endParaRPr lang="en-US" sz="1400" dirty="0"/>
          </a:p>
        </p:txBody>
      </p:sp>
      <p:sp>
        <p:nvSpPr>
          <p:cNvPr id="9" name="Text 7"/>
          <p:cNvSpPr/>
          <p:nvPr/>
        </p:nvSpPr>
        <p:spPr>
          <a:xfrm>
            <a:off x="777240" y="4370832"/>
            <a:ext cx="2560320" cy="64008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Presse-papiers · dossiers de téléchargements</a:t>
            </a:r>
            <a:endParaRPr lang="en-US" sz="1050" dirty="0"/>
          </a:p>
        </p:txBody>
      </p:sp>
      <p:sp>
        <p:nvSpPr>
          <p:cNvPr id="10" name="Shape 8"/>
          <p:cNvSpPr/>
          <p:nvPr/>
        </p:nvSpPr>
        <p:spPr>
          <a:xfrm>
            <a:off x="4663440" y="2651760"/>
            <a:ext cx="3108960" cy="1828800"/>
          </a:xfrm>
          <a:prstGeom prst="roundRect">
            <a:avLst>
              <a:gd name="adj" fmla="val 4000"/>
            </a:avLst>
          </a:prstGeom>
          <a:solidFill>
            <a:srgbClr val="0E2A47"/>
          </a:solidFill>
          <a:ln w="12700">
            <a:solidFill>
              <a:srgbClr val="D5DEE8"/>
            </a:solidFill>
            <a:prstDash val="solid"/>
          </a:ln>
        </p:spPr>
      </p:sp>
      <p:sp>
        <p:nvSpPr>
          <p:cNvPr id="11" name="Text 9"/>
          <p:cNvSpPr/>
          <p:nvPr/>
        </p:nvSpPr>
        <p:spPr>
          <a:xfrm>
            <a:off x="4800600" y="2761488"/>
            <a:ext cx="2834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Serveur Flask</a:t>
            </a:r>
            <a:endParaRPr lang="en-US" sz="1400" dirty="0"/>
          </a:p>
        </p:txBody>
      </p:sp>
      <p:sp>
        <p:nvSpPr>
          <p:cNvPr id="12" name="Text 10"/>
          <p:cNvSpPr/>
          <p:nvPr/>
        </p:nvSpPr>
        <p:spPr>
          <a:xfrm>
            <a:off x="4800600" y="3090672"/>
            <a:ext cx="2834640" cy="128016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API REST /report · moteur de scoring (14 règles) · threat intel Google Safe Browsing · authentification 2FA</a:t>
            </a:r>
            <a:endParaRPr lang="en-US" sz="1050" dirty="0"/>
          </a:p>
        </p:txBody>
      </p:sp>
      <p:sp>
        <p:nvSpPr>
          <p:cNvPr id="13" name="Shape 11"/>
          <p:cNvSpPr/>
          <p:nvPr/>
        </p:nvSpPr>
        <p:spPr>
          <a:xfrm>
            <a:off x="8869680" y="1828800"/>
            <a:ext cx="2743200" cy="1143000"/>
          </a:xfrm>
          <a:prstGeom prst="roundRect">
            <a:avLst>
              <a:gd name="adj" fmla="val 6400"/>
            </a:avLst>
          </a:prstGeom>
          <a:solidFill>
            <a:srgbClr val="F3F6FA"/>
          </a:solidFill>
          <a:ln w="12700">
            <a:solidFill>
              <a:srgbClr val="D5DEE8"/>
            </a:solidFill>
            <a:prstDash val="solid"/>
          </a:ln>
        </p:spPr>
      </p:sp>
      <p:sp>
        <p:nvSpPr>
          <p:cNvPr id="14" name="Text 12"/>
          <p:cNvSpPr/>
          <p:nvPr/>
        </p:nvSpPr>
        <p:spPr>
          <a:xfrm>
            <a:off x="9006840" y="1938528"/>
            <a:ext cx="2468880" cy="32004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Base de données</a:t>
            </a:r>
            <a:endParaRPr lang="en-US" sz="1400" dirty="0"/>
          </a:p>
        </p:txBody>
      </p:sp>
      <p:sp>
        <p:nvSpPr>
          <p:cNvPr id="15" name="Text 13"/>
          <p:cNvSpPr/>
          <p:nvPr/>
        </p:nvSpPr>
        <p:spPr>
          <a:xfrm>
            <a:off x="9006840" y="2267712"/>
            <a:ext cx="2468880" cy="59436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SQLAlchemy — SQLite / PostgreSQL / MySQL</a:t>
            </a:r>
            <a:endParaRPr lang="en-US" sz="1050" dirty="0"/>
          </a:p>
        </p:txBody>
      </p:sp>
      <p:sp>
        <p:nvSpPr>
          <p:cNvPr id="16" name="Shape 14"/>
          <p:cNvSpPr/>
          <p:nvPr/>
        </p:nvSpPr>
        <p:spPr>
          <a:xfrm>
            <a:off x="8869680" y="3566160"/>
            <a:ext cx="2743200" cy="1325880"/>
          </a:xfrm>
          <a:prstGeom prst="roundRect">
            <a:avLst>
              <a:gd name="adj" fmla="val 5517"/>
            </a:avLst>
          </a:prstGeom>
          <a:solidFill>
            <a:srgbClr val="F3F6FA"/>
          </a:solidFill>
          <a:ln w="12700">
            <a:solidFill>
              <a:srgbClr val="D5DEE8"/>
            </a:solidFill>
            <a:prstDash val="solid"/>
          </a:ln>
        </p:spPr>
      </p:sp>
      <p:sp>
        <p:nvSpPr>
          <p:cNvPr id="17" name="Text 15"/>
          <p:cNvSpPr/>
          <p:nvPr/>
        </p:nvSpPr>
        <p:spPr>
          <a:xfrm>
            <a:off x="9006840" y="3675888"/>
            <a:ext cx="2468880" cy="32004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Dashboard temps réel</a:t>
            </a:r>
            <a:endParaRPr lang="en-US" sz="1400" dirty="0"/>
          </a:p>
        </p:txBody>
      </p:sp>
      <p:sp>
        <p:nvSpPr>
          <p:cNvPr id="18" name="Text 16"/>
          <p:cNvSpPr/>
          <p:nvPr/>
        </p:nvSpPr>
        <p:spPr>
          <a:xfrm>
            <a:off x="9006840" y="4005072"/>
            <a:ext cx="2468880" cy="77724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Alertes en direct (WebSocket) · stats · utilisateurs · audit · consentements</a:t>
            </a:r>
            <a:endParaRPr lang="en-US" sz="1050" dirty="0"/>
          </a:p>
        </p:txBody>
      </p:sp>
      <p:sp>
        <p:nvSpPr>
          <p:cNvPr id="19" name="Shape 17"/>
          <p:cNvSpPr/>
          <p:nvPr/>
        </p:nvSpPr>
        <p:spPr>
          <a:xfrm>
            <a:off x="3474720" y="2514600"/>
            <a:ext cx="1188720" cy="594360"/>
          </a:xfrm>
          <a:prstGeom prst="line">
            <a:avLst/>
          </a:prstGeom>
          <a:noFill/>
          <a:ln w="28575">
            <a:solidFill>
              <a:srgbClr val="E8862E"/>
            </a:solidFill>
            <a:prstDash val="solid"/>
            <a:tailEnd type="triangle"/>
          </a:ln>
        </p:spPr>
      </p:sp>
      <p:sp>
        <p:nvSpPr>
          <p:cNvPr id="20" name="Text 18"/>
          <p:cNvSpPr/>
          <p:nvPr/>
        </p:nvSpPr>
        <p:spPr>
          <a:xfrm>
            <a:off x="3310128" y="2395728"/>
            <a:ext cx="1371600" cy="256032"/>
          </a:xfrm>
          <a:prstGeom prst="rect">
            <a:avLst/>
          </a:prstGeom>
          <a:noFill/>
          <a:ln/>
        </p:spPr>
        <p:txBody>
          <a:bodyPr wrap="square" lIns="0" tIns="0" rIns="0" bIns="0" rtlCol="0" anchor="ctr"/>
          <a:lstStyle/>
          <a:p>
            <a:pPr algn="ctr" indent="0" marL="0">
              <a:buNone/>
            </a:pPr>
            <a:r>
              <a:rPr lang="en-US" sz="1000" b="1" dirty="0">
                <a:solidFill>
                  <a:srgbClr val="E8862E"/>
                </a:solidFill>
                <a:latin typeface="Calibri" pitchFamily="34" charset="0"/>
                <a:ea typeface="Calibri" pitchFamily="34" charset="-122"/>
                <a:cs typeface="Calibri" pitchFamily="34" charset="-120"/>
              </a:rPr>
              <a:t>POST /report</a:t>
            </a:r>
            <a:endParaRPr lang="en-US" sz="1000" dirty="0"/>
          </a:p>
        </p:txBody>
      </p:sp>
      <p:sp>
        <p:nvSpPr>
          <p:cNvPr id="21" name="Shape 19"/>
          <p:cNvSpPr/>
          <p:nvPr/>
        </p:nvSpPr>
        <p:spPr>
          <a:xfrm>
            <a:off x="3474720" y="4526280"/>
            <a:ext cx="1188720" cy="-548640"/>
          </a:xfrm>
          <a:prstGeom prst="line">
            <a:avLst/>
          </a:prstGeom>
          <a:noFill/>
          <a:ln w="28575">
            <a:solidFill>
              <a:srgbClr val="E8862E"/>
            </a:solidFill>
            <a:prstDash val="solid"/>
            <a:tailEnd type="triangle"/>
          </a:ln>
        </p:spPr>
      </p:sp>
      <p:sp>
        <p:nvSpPr>
          <p:cNvPr id="22" name="Text 20"/>
          <p:cNvSpPr/>
          <p:nvPr/>
        </p:nvSpPr>
        <p:spPr>
          <a:xfrm>
            <a:off x="3310128" y="4526280"/>
            <a:ext cx="1371600" cy="256032"/>
          </a:xfrm>
          <a:prstGeom prst="rect">
            <a:avLst/>
          </a:prstGeom>
          <a:noFill/>
          <a:ln/>
        </p:spPr>
        <p:txBody>
          <a:bodyPr wrap="square" lIns="0" tIns="0" rIns="0" bIns="0" rtlCol="0" anchor="ctr"/>
          <a:lstStyle/>
          <a:p>
            <a:pPr algn="ctr" indent="0" marL="0">
              <a:buNone/>
            </a:pPr>
            <a:r>
              <a:rPr lang="en-US" sz="1000" b="1" dirty="0">
                <a:solidFill>
                  <a:srgbClr val="E8862E"/>
                </a:solidFill>
                <a:latin typeface="Calibri" pitchFamily="34" charset="0"/>
                <a:ea typeface="Calibri" pitchFamily="34" charset="-122"/>
                <a:cs typeface="Calibri" pitchFamily="34" charset="-120"/>
              </a:rPr>
              <a:t>POST /report</a:t>
            </a:r>
            <a:endParaRPr lang="en-US" sz="1000" dirty="0"/>
          </a:p>
        </p:txBody>
      </p:sp>
      <p:sp>
        <p:nvSpPr>
          <p:cNvPr id="23" name="Shape 21"/>
          <p:cNvSpPr/>
          <p:nvPr/>
        </p:nvSpPr>
        <p:spPr>
          <a:xfrm>
            <a:off x="7772400" y="3017520"/>
            <a:ext cx="1097280" cy="-548640"/>
          </a:xfrm>
          <a:prstGeom prst="line">
            <a:avLst/>
          </a:prstGeom>
          <a:noFill/>
          <a:ln w="28575">
            <a:solidFill>
              <a:srgbClr val="2E8C7F"/>
            </a:solidFill>
            <a:prstDash val="solid"/>
            <a:tailEnd type="triangle"/>
          </a:ln>
        </p:spPr>
      </p:sp>
      <p:sp>
        <p:nvSpPr>
          <p:cNvPr id="24" name="Text 22"/>
          <p:cNvSpPr/>
          <p:nvPr/>
        </p:nvSpPr>
        <p:spPr>
          <a:xfrm>
            <a:off x="7973568" y="2487168"/>
            <a:ext cx="822960" cy="256032"/>
          </a:xfrm>
          <a:prstGeom prst="rect">
            <a:avLst/>
          </a:prstGeom>
          <a:noFill/>
          <a:ln/>
        </p:spPr>
        <p:txBody>
          <a:bodyPr wrap="square" lIns="0" tIns="0" rIns="0" bIns="0" rtlCol="0" anchor="ctr"/>
          <a:lstStyle/>
          <a:p>
            <a:pPr algn="ctr" indent="0" marL="0">
              <a:buNone/>
            </a:pPr>
            <a:r>
              <a:rPr lang="en-US" sz="1000" b="1" dirty="0">
                <a:solidFill>
                  <a:srgbClr val="2E8C7F"/>
                </a:solidFill>
                <a:latin typeface="Calibri" pitchFamily="34" charset="0"/>
                <a:ea typeface="Calibri" pitchFamily="34" charset="-122"/>
                <a:cs typeface="Calibri" pitchFamily="34" charset="-120"/>
              </a:rPr>
              <a:t>SQL</a:t>
            </a:r>
            <a:endParaRPr lang="en-US" sz="1000" dirty="0"/>
          </a:p>
        </p:txBody>
      </p:sp>
      <p:sp>
        <p:nvSpPr>
          <p:cNvPr id="25" name="Shape 23"/>
          <p:cNvSpPr/>
          <p:nvPr/>
        </p:nvSpPr>
        <p:spPr>
          <a:xfrm>
            <a:off x="7772400" y="3931920"/>
            <a:ext cx="1097280" cy="274320"/>
          </a:xfrm>
          <a:prstGeom prst="line">
            <a:avLst/>
          </a:prstGeom>
          <a:noFill/>
          <a:ln w="28575">
            <a:solidFill>
              <a:srgbClr val="2E8C7F"/>
            </a:solidFill>
            <a:prstDash val="solid"/>
            <a:tailEnd type="triangle"/>
          </a:ln>
        </p:spPr>
      </p:sp>
      <p:sp>
        <p:nvSpPr>
          <p:cNvPr id="26" name="Text 24"/>
          <p:cNvSpPr/>
          <p:nvPr/>
        </p:nvSpPr>
        <p:spPr>
          <a:xfrm>
            <a:off x="7818120" y="4261104"/>
            <a:ext cx="1188720" cy="256032"/>
          </a:xfrm>
          <a:prstGeom prst="rect">
            <a:avLst/>
          </a:prstGeom>
          <a:noFill/>
          <a:ln/>
        </p:spPr>
        <p:txBody>
          <a:bodyPr wrap="square" lIns="0" tIns="0" rIns="0" bIns="0" rtlCol="0" anchor="ctr"/>
          <a:lstStyle/>
          <a:p>
            <a:pPr algn="ctr" indent="0" marL="0">
              <a:buNone/>
            </a:pPr>
            <a:r>
              <a:rPr lang="en-US" sz="1000" b="1" dirty="0">
                <a:solidFill>
                  <a:srgbClr val="2E8C7F"/>
                </a:solidFill>
                <a:latin typeface="Calibri" pitchFamily="34" charset="0"/>
                <a:ea typeface="Calibri" pitchFamily="34" charset="-122"/>
                <a:cs typeface="Calibri" pitchFamily="34" charset="-120"/>
              </a:rPr>
              <a:t>WebSocket</a:t>
            </a:r>
            <a:endParaRPr lang="en-US" sz="1000" dirty="0"/>
          </a:p>
        </p:txBody>
      </p:sp>
      <p:sp>
        <p:nvSpPr>
          <p:cNvPr id="27" name="Shape 25"/>
          <p:cNvSpPr/>
          <p:nvPr/>
        </p:nvSpPr>
        <p:spPr>
          <a:xfrm>
            <a:off x="6217920" y="4480560"/>
            <a:ext cx="0" cy="960120"/>
          </a:xfrm>
          <a:prstGeom prst="line">
            <a:avLst/>
          </a:prstGeom>
          <a:noFill/>
          <a:ln w="22225">
            <a:solidFill>
              <a:srgbClr val="5B6B7C"/>
            </a:solidFill>
            <a:prstDash val="dash"/>
          </a:ln>
        </p:spPr>
      </p:sp>
      <p:sp>
        <p:nvSpPr>
          <p:cNvPr id="28" name="Shape 26"/>
          <p:cNvSpPr/>
          <p:nvPr/>
        </p:nvSpPr>
        <p:spPr>
          <a:xfrm>
            <a:off x="411480" y="5440680"/>
            <a:ext cx="5806440" cy="0"/>
          </a:xfrm>
          <a:prstGeom prst="line">
            <a:avLst/>
          </a:prstGeom>
          <a:noFill/>
          <a:ln w="22225">
            <a:solidFill>
              <a:srgbClr val="5B6B7C"/>
            </a:solidFill>
            <a:prstDash val="dash"/>
          </a:ln>
        </p:spPr>
      </p:sp>
      <p:sp>
        <p:nvSpPr>
          <p:cNvPr id="29" name="Shape 27"/>
          <p:cNvSpPr/>
          <p:nvPr/>
        </p:nvSpPr>
        <p:spPr>
          <a:xfrm>
            <a:off x="411480" y="2514600"/>
            <a:ext cx="0" cy="2926080"/>
          </a:xfrm>
          <a:prstGeom prst="line">
            <a:avLst/>
          </a:prstGeom>
          <a:noFill/>
          <a:ln w="22225">
            <a:solidFill>
              <a:srgbClr val="5B6B7C"/>
            </a:solidFill>
            <a:prstDash val="dash"/>
            <a:headEnd type="triangle"/>
          </a:ln>
        </p:spPr>
      </p:sp>
      <p:sp>
        <p:nvSpPr>
          <p:cNvPr id="30" name="Text 28"/>
          <p:cNvSpPr/>
          <p:nvPr/>
        </p:nvSpPr>
        <p:spPr>
          <a:xfrm>
            <a:off x="2377440" y="5504688"/>
            <a:ext cx="4023360" cy="274320"/>
          </a:xfrm>
          <a:prstGeom prst="rect">
            <a:avLst/>
          </a:prstGeom>
          <a:noFill/>
          <a:ln/>
        </p:spPr>
        <p:txBody>
          <a:bodyPr wrap="square" lIns="0" tIns="0" rIns="0" bIns="0" rtlCol="0" anchor="ctr"/>
          <a:lstStyle/>
          <a:p>
            <a:pPr indent="0" marL="0">
              <a:buNone/>
            </a:pPr>
            <a:r>
              <a:rPr lang="en-US" sz="1050" i="1" dirty="0">
                <a:solidFill>
                  <a:srgbClr val="5B6B7C"/>
                </a:solidFill>
                <a:latin typeface="Calibri" pitchFamily="34" charset="0"/>
                <a:ea typeface="Calibri" pitchFamily="34" charset="-122"/>
                <a:cs typeface="Calibri" pitchFamily="34" charset="-120"/>
              </a:rPr>
              <a:t>Notification push FCM (retour vers l'utilisateur)</a:t>
            </a:r>
            <a:endParaRPr lang="en-US" sz="1050" dirty="0"/>
          </a:p>
        </p:txBody>
      </p:sp>
      <p:sp>
        <p:nvSpPr>
          <p:cNvPr id="31" name="Text 29"/>
          <p:cNvSpPr/>
          <p:nvPr/>
        </p:nvSpPr>
        <p:spPr>
          <a:xfrm>
            <a:off x="640080" y="6035040"/>
            <a:ext cx="10972800" cy="274320"/>
          </a:xfrm>
          <a:prstGeom prst="rect">
            <a:avLst/>
          </a:prstGeom>
          <a:noFill/>
          <a:ln/>
        </p:spPr>
        <p:txBody>
          <a:bodyPr wrap="square" lIns="0" tIns="0" rIns="0" bIns="0" rtlCol="0" anchor="ctr"/>
          <a:lstStyle/>
          <a:p>
            <a:pPr indent="0" marL="0">
              <a:buNone/>
            </a:pPr>
            <a:r>
              <a:rPr lang="en-US" sz="1100" i="1" dirty="0">
                <a:solidFill>
                  <a:srgbClr val="5B6B7C"/>
                </a:solidFill>
                <a:latin typeface="Calibri" pitchFamily="34" charset="0"/>
                <a:ea typeface="Calibri" pitchFamily="34" charset="-122"/>
                <a:cs typeface="Calibri" pitchFamily="34" charset="-120"/>
              </a:rPr>
              <a:t>Ligne pleine : remontée des évènements · Pointillés : alerte renvoyée au téléphone</a:t>
            </a:r>
            <a:endParaRPr lang="en-US" sz="1100" dirty="0"/>
          </a:p>
        </p:txBody>
      </p:sp>
      <p:sp>
        <p:nvSpPr>
          <p:cNvPr id="33" name="Text 30"/>
          <p:cNvSpPr/>
          <p:nvPr/>
        </p:nvSpPr>
        <p:spPr>
          <a:xfrm>
            <a:off x="11503152" y="640080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E8862E"/>
                </a:solidFill>
                <a:latin typeface="Calibri" pitchFamily="34" charset="0"/>
                <a:ea typeface="Calibri" pitchFamily="34" charset="-122"/>
                <a:cs typeface="Calibri" pitchFamily="34" charset="-120"/>
              </a:rPr>
              <a:t>CŒUR DU SYSTÈME</a:t>
            </a:r>
            <a:endParaRPr lang="en-US" sz="11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Un moteur de scoring par règles, explicable</a:t>
            </a:r>
            <a:endParaRPr lang="en-US" sz="3200" dirty="0"/>
          </a:p>
        </p:txBody>
      </p:sp>
      <p:sp>
        <p:nvSpPr>
          <p:cNvPr id="4" name="Text 2"/>
          <p:cNvSpPr/>
          <p:nvPr/>
        </p:nvSpPr>
        <p:spPr>
          <a:xfrm>
            <a:off x="640080" y="1737360"/>
            <a:ext cx="2286000" cy="7315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Additif</a:t>
            </a:r>
            <a:endParaRPr lang="en-US" sz="1400" dirty="0"/>
          </a:p>
        </p:txBody>
      </p:sp>
      <p:sp>
        <p:nvSpPr>
          <p:cNvPr id="5" name="Text 3"/>
          <p:cNvSpPr/>
          <p:nvPr/>
        </p:nvSpPr>
        <p:spPr>
          <a:xfrm>
            <a:off x="3017520" y="1737360"/>
            <a:ext cx="3566160" cy="86868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14 règles ; chaque signal suspect ajoute des points (score borné 0–100).</a:t>
            </a:r>
            <a:endParaRPr lang="en-US" sz="1250" dirty="0"/>
          </a:p>
        </p:txBody>
      </p:sp>
      <p:sp>
        <p:nvSpPr>
          <p:cNvPr id="6" name="Text 4"/>
          <p:cNvSpPr/>
          <p:nvPr/>
        </p:nvSpPr>
        <p:spPr>
          <a:xfrm>
            <a:off x="640080" y="2724912"/>
            <a:ext cx="2286000" cy="7315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Seuils configurables</a:t>
            </a:r>
            <a:endParaRPr lang="en-US" sz="1400" dirty="0"/>
          </a:p>
        </p:txBody>
      </p:sp>
      <p:sp>
        <p:nvSpPr>
          <p:cNvPr id="7" name="Text 5"/>
          <p:cNvSpPr/>
          <p:nvPr/>
        </p:nvSpPr>
        <p:spPr>
          <a:xfrm>
            <a:off x="3017520" y="2724912"/>
            <a:ext cx="3566160" cy="86868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 25 : risque moyen · ≥ 55 : risque élevé (réglables dans le dashboard).</a:t>
            </a:r>
            <a:endParaRPr lang="en-US" sz="1250" dirty="0"/>
          </a:p>
        </p:txBody>
      </p:sp>
      <p:sp>
        <p:nvSpPr>
          <p:cNvPr id="8" name="Text 6"/>
          <p:cNvSpPr/>
          <p:nvPr/>
        </p:nvSpPr>
        <p:spPr>
          <a:xfrm>
            <a:off x="640080" y="3712464"/>
            <a:ext cx="2286000" cy="7315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Explicable</a:t>
            </a:r>
            <a:endParaRPr lang="en-US" sz="1400" dirty="0"/>
          </a:p>
        </p:txBody>
      </p:sp>
      <p:sp>
        <p:nvSpPr>
          <p:cNvPr id="9" name="Text 7"/>
          <p:cNvSpPr/>
          <p:nvPr/>
        </p:nvSpPr>
        <p:spPr>
          <a:xfrm>
            <a:off x="3017520" y="3712464"/>
            <a:ext cx="3566160" cy="86868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Chaque règle déclenchée est enregistrée : l'alerte dit toujours pourquoi.</a:t>
            </a:r>
            <a:endParaRPr lang="en-US" sz="1250" dirty="0"/>
          </a:p>
        </p:txBody>
      </p:sp>
      <p:sp>
        <p:nvSpPr>
          <p:cNvPr id="10" name="Text 8"/>
          <p:cNvSpPr/>
          <p:nvPr/>
        </p:nvSpPr>
        <p:spPr>
          <a:xfrm>
            <a:off x="640080" y="4700016"/>
            <a:ext cx="2286000" cy="7315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Robuste aux ruses</a:t>
            </a:r>
            <a:endParaRPr lang="en-US" sz="1400" dirty="0"/>
          </a:p>
        </p:txBody>
      </p:sp>
      <p:sp>
        <p:nvSpPr>
          <p:cNvPr id="11" name="Text 9"/>
          <p:cNvSpPr/>
          <p:nvPr/>
        </p:nvSpPr>
        <p:spPr>
          <a:xfrm>
            <a:off x="3017520" y="4700016"/>
            <a:ext cx="3566160" cy="86868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Insensible aux accents ; détecte les homoglyphes (0range → orange).</a:t>
            </a:r>
            <a:endParaRPr lang="en-US" sz="1250" dirty="0"/>
          </a:p>
        </p:txBody>
      </p:sp>
      <p:sp>
        <p:nvSpPr>
          <p:cNvPr id="12" name="Shape 10"/>
          <p:cNvSpPr/>
          <p:nvPr/>
        </p:nvSpPr>
        <p:spPr>
          <a:xfrm>
            <a:off x="7040880" y="1691640"/>
            <a:ext cx="4572000" cy="4343400"/>
          </a:xfrm>
          <a:prstGeom prst="roundRect">
            <a:avLst>
              <a:gd name="adj" fmla="val 2105"/>
            </a:avLst>
          </a:prstGeom>
          <a:solidFill>
            <a:srgbClr val="F3F6FA"/>
          </a:solidFill>
          <a:ln/>
        </p:spPr>
      </p:sp>
      <p:sp>
        <p:nvSpPr>
          <p:cNvPr id="13" name="Text 11"/>
          <p:cNvSpPr/>
          <p:nvPr/>
        </p:nvSpPr>
        <p:spPr>
          <a:xfrm>
            <a:off x="7315200" y="1874520"/>
            <a:ext cx="4023360" cy="274320"/>
          </a:xfrm>
          <a:prstGeom prst="rect">
            <a:avLst/>
          </a:prstGeom>
          <a:noFill/>
          <a:ln/>
        </p:spPr>
        <p:txBody>
          <a:bodyPr wrap="square" lIns="0" tIns="0" rIns="0" bIns="0" rtlCol="0" anchor="ctr"/>
          <a:lstStyle/>
          <a:p>
            <a:pPr indent="0" marL="0">
              <a:buNone/>
            </a:pPr>
            <a:r>
              <a:rPr lang="en-US" sz="1050" b="1" spc="200" kern="0" dirty="0">
                <a:solidFill>
                  <a:srgbClr val="E8862E"/>
                </a:solidFill>
                <a:latin typeface="Calibri" pitchFamily="34" charset="0"/>
                <a:ea typeface="Calibri" pitchFamily="34" charset="-122"/>
                <a:cs typeface="Calibri" pitchFamily="34" charset="-120"/>
              </a:rPr>
              <a:t>EXEMPLE RÉEL ANALYSÉ</a:t>
            </a:r>
            <a:endParaRPr lang="en-US" sz="1050" dirty="0"/>
          </a:p>
        </p:txBody>
      </p:sp>
      <p:sp>
        <p:nvSpPr>
          <p:cNvPr id="14" name="Shape 12"/>
          <p:cNvSpPr/>
          <p:nvPr/>
        </p:nvSpPr>
        <p:spPr>
          <a:xfrm>
            <a:off x="7315200" y="2194560"/>
            <a:ext cx="4023360" cy="914400"/>
          </a:xfrm>
          <a:prstGeom prst="roundRect">
            <a:avLst>
              <a:gd name="adj" fmla="val 8000"/>
            </a:avLst>
          </a:prstGeom>
          <a:solidFill>
            <a:srgbClr val="FFFFFF"/>
          </a:solidFill>
          <a:ln w="12700">
            <a:solidFill>
              <a:srgbClr val="D5DEE8"/>
            </a:solidFill>
            <a:prstDash val="solid"/>
          </a:ln>
        </p:spPr>
      </p:sp>
      <p:sp>
        <p:nvSpPr>
          <p:cNvPr id="15" name="Text 13"/>
          <p:cNvSpPr/>
          <p:nvPr/>
        </p:nvSpPr>
        <p:spPr>
          <a:xfrm>
            <a:off x="7424928" y="2267712"/>
            <a:ext cx="3803904" cy="786384"/>
          </a:xfrm>
          <a:prstGeom prst="rect">
            <a:avLst/>
          </a:prstGeom>
          <a:noFill/>
          <a:ln/>
        </p:spPr>
        <p:txBody>
          <a:bodyPr wrap="square" lIns="0" tIns="0" rIns="0" bIns="0" rtlCol="0" anchor="ctr"/>
          <a:lstStyle/>
          <a:p>
            <a:pPr indent="0" marL="0">
              <a:buNone/>
            </a:pPr>
            <a:r>
              <a:rPr lang="en-US" sz="1100" i="1" dirty="0">
                <a:solidFill>
                  <a:srgbClr val="1B2A3A"/>
                </a:solidFill>
                <a:latin typeface="Calibri" pitchFamily="34" charset="0"/>
                <a:ea typeface="Calibri" pitchFamily="34" charset="-122"/>
                <a:cs typeface="Calibri" pitchFamily="34" charset="-120"/>
              </a:rPr>
              <a:t>« URGENT : votre compte Orange Money sera bloqué. Cliquez http://0range-money.xyz pour réactiver »</a:t>
            </a:r>
            <a:endParaRPr lang="en-US" sz="1100" dirty="0"/>
          </a:p>
        </p:txBody>
      </p:sp>
      <p:sp>
        <p:nvSpPr>
          <p:cNvPr id="16" name="Text 14"/>
          <p:cNvSpPr/>
          <p:nvPr/>
        </p:nvSpPr>
        <p:spPr>
          <a:xfrm>
            <a:off x="7315200" y="3246120"/>
            <a:ext cx="4069080" cy="1737360"/>
          </a:xfrm>
          <a:prstGeom prst="rect">
            <a:avLst/>
          </a:prstGeom>
          <a:noFill/>
          <a:ln/>
        </p:spPr>
        <p:txBody>
          <a:bodyPr wrap="square" lIns="0" tIns="0" rIns="0" bIns="0" rtlCol="0" anchor="ctr"/>
          <a:lstStyle/>
          <a:p>
            <a:pPr marL="177800" indent="-177800">
              <a:spcAft>
                <a:spcPts val="500"/>
              </a:spcAft>
              <a:buSzPct val="100000"/>
              <a:buChar char="✓"/>
            </a:pPr>
            <a:r>
              <a:rPr lang="en-US" sz="1150" dirty="0">
                <a:solidFill>
                  <a:srgbClr val="1B2A3A"/>
                </a:solidFill>
                <a:latin typeface="Calibri" pitchFamily="34" charset="0"/>
                <a:ea typeface="Calibri" pitchFamily="34" charset="-122"/>
                <a:cs typeface="Calibri" pitchFamily="34" charset="-120"/>
              </a:rPr>
              <a:t>Domaine imitant un opérateur (0range → orange)  +35</a:t>
            </a:r>
            <a:endParaRPr lang="en-US" sz="1150" dirty="0"/>
          </a:p>
          <a:p>
            <a:pPr marL="177800" indent="-177800">
              <a:spcAft>
                <a:spcPts val="500"/>
              </a:spcAft>
              <a:buSzPct val="100000"/>
              <a:buChar char="✓"/>
            </a:pPr>
            <a:r>
              <a:rPr lang="en-US" sz="1150" dirty="0">
                <a:solidFill>
                  <a:srgbClr val="1B2A3A"/>
                </a:solidFill>
                <a:latin typeface="Calibri" pitchFamily="34" charset="0"/>
                <a:ea typeface="Calibri" pitchFamily="34" charset="-122"/>
                <a:cs typeface="Calibri" pitchFamily="34" charset="-120"/>
              </a:rPr>
              <a:t>Extension .xyz peu fiable  +15</a:t>
            </a:r>
            <a:endParaRPr lang="en-US" sz="1150" dirty="0"/>
          </a:p>
          <a:p>
            <a:pPr marL="177800" indent="-177800">
              <a:spcAft>
                <a:spcPts val="500"/>
              </a:spcAft>
              <a:buSzPct val="100000"/>
              <a:buChar char="✓"/>
            </a:pPr>
            <a:r>
              <a:rPr lang="en-US" sz="1150" dirty="0">
                <a:solidFill>
                  <a:srgbClr val="1B2A3A"/>
                </a:solidFill>
                <a:latin typeface="Calibri" pitchFamily="34" charset="0"/>
                <a:ea typeface="Calibri" pitchFamily="34" charset="-122"/>
                <a:cs typeface="Calibri" pitchFamily="34" charset="-120"/>
              </a:rPr>
              <a:t>Vocabulaire d'arnaque (urgent, bloqué, cliquez…)  +32</a:t>
            </a:r>
            <a:endParaRPr lang="en-US" sz="1150" dirty="0"/>
          </a:p>
          <a:p>
            <a:pPr marL="177800" indent="-177800">
              <a:spcAft>
                <a:spcPts val="500"/>
              </a:spcAft>
              <a:buSzPct val="100000"/>
              <a:buChar char="✓"/>
            </a:pPr>
            <a:r>
              <a:rPr lang="en-US" sz="1150" dirty="0">
                <a:solidFill>
                  <a:srgbClr val="1B2A3A"/>
                </a:solidFill>
                <a:latin typeface="Calibri" pitchFamily="34" charset="0"/>
                <a:ea typeface="Calibri" pitchFamily="34" charset="-122"/>
                <a:cs typeface="Calibri" pitchFamily="34" charset="-120"/>
              </a:rPr>
              <a:t>Urgence combinée à un lien  +12</a:t>
            </a:r>
            <a:endParaRPr lang="en-US" sz="1150" dirty="0"/>
          </a:p>
          <a:p>
            <a:pPr marL="177800" indent="-177800">
              <a:spcAft>
                <a:spcPts val="500"/>
              </a:spcAft>
              <a:buSzPct val="100000"/>
              <a:buChar char="✓"/>
            </a:pPr>
            <a:r>
              <a:rPr lang="en-US" sz="1150" dirty="0">
                <a:solidFill>
                  <a:srgbClr val="1B2A3A"/>
                </a:solidFill>
                <a:latin typeface="Calibri" pitchFamily="34" charset="0"/>
                <a:ea typeface="Calibri" pitchFamily="34" charset="-122"/>
                <a:cs typeface="Calibri" pitchFamily="34" charset="-120"/>
              </a:rPr>
              <a:t>Connexion non sécurisée (http)  +5</a:t>
            </a:r>
            <a:endParaRPr lang="en-US" sz="1150" dirty="0"/>
          </a:p>
        </p:txBody>
      </p:sp>
      <p:sp>
        <p:nvSpPr>
          <p:cNvPr id="17" name="Shape 15"/>
          <p:cNvSpPr/>
          <p:nvPr/>
        </p:nvSpPr>
        <p:spPr>
          <a:xfrm>
            <a:off x="7315200" y="5074920"/>
            <a:ext cx="1920240" cy="731520"/>
          </a:xfrm>
          <a:prstGeom prst="roundRect">
            <a:avLst>
              <a:gd name="adj" fmla="val 10000"/>
            </a:avLst>
          </a:prstGeom>
          <a:solidFill>
            <a:srgbClr val="C0442C"/>
          </a:solidFill>
          <a:ln/>
        </p:spPr>
      </p:sp>
      <p:sp>
        <p:nvSpPr>
          <p:cNvPr id="18" name="Text 16"/>
          <p:cNvSpPr/>
          <p:nvPr/>
        </p:nvSpPr>
        <p:spPr>
          <a:xfrm>
            <a:off x="7315200" y="5074920"/>
            <a:ext cx="192024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Score : 99</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Niveau ÉLEVÉ</a:t>
            </a:r>
            <a:endParaRPr lang="en-US" sz="1600" dirty="0"/>
          </a:p>
        </p:txBody>
      </p:sp>
      <p:sp>
        <p:nvSpPr>
          <p:cNvPr id="19" name="Text 17"/>
          <p:cNvSpPr/>
          <p:nvPr/>
        </p:nvSpPr>
        <p:spPr>
          <a:xfrm>
            <a:off x="9372600" y="5120640"/>
            <a:ext cx="2194560" cy="731520"/>
          </a:xfrm>
          <a:prstGeom prst="rect">
            <a:avLst/>
          </a:prstGeom>
          <a:noFill/>
          <a:ln/>
        </p:spPr>
        <p:txBody>
          <a:bodyPr wrap="square" lIns="0" tIns="0" rIns="0" bIns="0" rtlCol="0" anchor="ctr"/>
          <a:lstStyle/>
          <a:p>
            <a:pPr indent="0" marL="0">
              <a:buNone/>
            </a:pPr>
            <a:r>
              <a:rPr lang="en-US" sz="1050" i="1" dirty="0">
                <a:solidFill>
                  <a:srgbClr val="5B6B7C"/>
                </a:solidFill>
                <a:latin typeface="Calibri" pitchFamily="34" charset="0"/>
                <a:ea typeface="Calibri" pitchFamily="34" charset="-122"/>
                <a:cs typeface="Calibri" pitchFamily="34" charset="-120"/>
              </a:rPr>
              <a:t>Le jury peut vérifier chaque point : rien n'est une boîte noire.</a:t>
            </a:r>
            <a:endParaRPr lang="en-US" sz="1050" dirty="0"/>
          </a:p>
        </p:txBody>
      </p:sp>
      <p:sp>
        <p:nvSpPr>
          <p:cNvPr id="21" name="Text 18"/>
          <p:cNvSpPr/>
          <p:nvPr/>
        </p:nvSpPr>
        <p:spPr>
          <a:xfrm>
            <a:off x="11503152" y="640080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E8862E"/>
                </a:solidFill>
                <a:latin typeface="Calibri" pitchFamily="34" charset="0"/>
                <a:ea typeface="Calibri" pitchFamily="34" charset="-122"/>
                <a:cs typeface="Calibri" pitchFamily="34" charset="-120"/>
              </a:rPr>
              <a:t>COUVERTURE</a:t>
            </a:r>
            <a:endParaRPr lang="en-US" sz="11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Huit familles d'attaques détectées</a:t>
            </a:r>
            <a:endParaRPr lang="en-US" sz="3200" dirty="0"/>
          </a:p>
        </p:txBody>
      </p:sp>
      <p:sp>
        <p:nvSpPr>
          <p:cNvPr id="4" name="Shape 2"/>
          <p:cNvSpPr/>
          <p:nvPr/>
        </p:nvSpPr>
        <p:spPr>
          <a:xfrm>
            <a:off x="640080" y="1828800"/>
            <a:ext cx="2697480" cy="1691640"/>
          </a:xfrm>
          <a:prstGeom prst="roundRect">
            <a:avLst>
              <a:gd name="adj" fmla="val 4865"/>
            </a:avLst>
          </a:prstGeom>
          <a:solidFill>
            <a:srgbClr val="FDF1E3"/>
          </a:solidFill>
          <a:ln/>
        </p:spPr>
      </p:sp>
      <p:sp>
        <p:nvSpPr>
          <p:cNvPr id="5" name="Shape 3"/>
          <p:cNvSpPr/>
          <p:nvPr/>
        </p:nvSpPr>
        <p:spPr>
          <a:xfrm>
            <a:off x="841248" y="2029968"/>
            <a:ext cx="310896" cy="310896"/>
          </a:xfrm>
          <a:prstGeom prst="ellipse">
            <a:avLst/>
          </a:prstGeom>
          <a:solidFill>
            <a:srgbClr val="E8862E"/>
          </a:solidFill>
          <a:ln/>
        </p:spPr>
      </p:sp>
      <p:sp>
        <p:nvSpPr>
          <p:cNvPr id="6" name="Text 4"/>
          <p:cNvSpPr/>
          <p:nvPr/>
        </p:nvSpPr>
        <p:spPr>
          <a:xfrm>
            <a:off x="841248" y="20162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1993392"/>
            <a:ext cx="1920240" cy="566928"/>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Smishing / liens piégés</a:t>
            </a:r>
            <a:endParaRPr lang="en-US" sz="1250" dirty="0"/>
          </a:p>
        </p:txBody>
      </p:sp>
      <p:sp>
        <p:nvSpPr>
          <p:cNvPr id="8" name="Text 6"/>
          <p:cNvSpPr/>
          <p:nvPr/>
        </p:nvSpPr>
        <p:spPr>
          <a:xfrm>
            <a:off x="841248" y="2633472"/>
            <a:ext cx="2295144" cy="77724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IP brute, raccourcisseurs, TLD douteux, http</a:t>
            </a:r>
            <a:endParaRPr lang="en-US" sz="1050" dirty="0"/>
          </a:p>
        </p:txBody>
      </p:sp>
      <p:sp>
        <p:nvSpPr>
          <p:cNvPr id="9" name="Shape 7"/>
          <p:cNvSpPr/>
          <p:nvPr/>
        </p:nvSpPr>
        <p:spPr>
          <a:xfrm>
            <a:off x="3502152" y="1828800"/>
            <a:ext cx="2697480" cy="1691640"/>
          </a:xfrm>
          <a:prstGeom prst="roundRect">
            <a:avLst>
              <a:gd name="adj" fmla="val 4865"/>
            </a:avLst>
          </a:prstGeom>
          <a:solidFill>
            <a:srgbClr val="F3F6FA"/>
          </a:solidFill>
          <a:ln/>
        </p:spPr>
      </p:sp>
      <p:sp>
        <p:nvSpPr>
          <p:cNvPr id="10" name="Shape 8"/>
          <p:cNvSpPr/>
          <p:nvPr/>
        </p:nvSpPr>
        <p:spPr>
          <a:xfrm>
            <a:off x="3703320" y="2029968"/>
            <a:ext cx="310896" cy="310896"/>
          </a:xfrm>
          <a:prstGeom prst="ellipse">
            <a:avLst/>
          </a:prstGeom>
          <a:solidFill>
            <a:srgbClr val="0E2A47"/>
          </a:solidFill>
          <a:ln/>
        </p:spPr>
      </p:sp>
      <p:sp>
        <p:nvSpPr>
          <p:cNvPr id="11" name="Text 9"/>
          <p:cNvSpPr/>
          <p:nvPr/>
        </p:nvSpPr>
        <p:spPr>
          <a:xfrm>
            <a:off x="3703320" y="20162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123944" y="1993392"/>
            <a:ext cx="1920240" cy="566928"/>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Domaines sosies</a:t>
            </a:r>
            <a:endParaRPr lang="en-US" sz="1250" dirty="0"/>
          </a:p>
        </p:txBody>
      </p:sp>
      <p:sp>
        <p:nvSpPr>
          <p:cNvPr id="13" name="Text 11"/>
          <p:cNvSpPr/>
          <p:nvPr/>
        </p:nvSpPr>
        <p:spPr>
          <a:xfrm>
            <a:off x="3703320" y="2633472"/>
            <a:ext cx="2295144" cy="77724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Homoglyphes : 0range, airte1, v0dacom</a:t>
            </a:r>
            <a:endParaRPr lang="en-US" sz="1050" dirty="0"/>
          </a:p>
        </p:txBody>
      </p:sp>
      <p:sp>
        <p:nvSpPr>
          <p:cNvPr id="14" name="Shape 12"/>
          <p:cNvSpPr/>
          <p:nvPr/>
        </p:nvSpPr>
        <p:spPr>
          <a:xfrm>
            <a:off x="6364224" y="1828800"/>
            <a:ext cx="2697480" cy="1691640"/>
          </a:xfrm>
          <a:prstGeom prst="roundRect">
            <a:avLst>
              <a:gd name="adj" fmla="val 4865"/>
            </a:avLst>
          </a:prstGeom>
          <a:solidFill>
            <a:srgbClr val="FDF1E3"/>
          </a:solidFill>
          <a:ln/>
        </p:spPr>
      </p:sp>
      <p:sp>
        <p:nvSpPr>
          <p:cNvPr id="15" name="Shape 13"/>
          <p:cNvSpPr/>
          <p:nvPr/>
        </p:nvSpPr>
        <p:spPr>
          <a:xfrm>
            <a:off x="6565392" y="2029968"/>
            <a:ext cx="310896" cy="310896"/>
          </a:xfrm>
          <a:prstGeom prst="ellipse">
            <a:avLst/>
          </a:prstGeom>
          <a:solidFill>
            <a:srgbClr val="E8862E"/>
          </a:solidFill>
          <a:ln/>
        </p:spPr>
      </p:sp>
      <p:sp>
        <p:nvSpPr>
          <p:cNvPr id="16" name="Text 14"/>
          <p:cNvSpPr/>
          <p:nvPr/>
        </p:nvSpPr>
        <p:spPr>
          <a:xfrm>
            <a:off x="6565392" y="20162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6986016" y="1993392"/>
            <a:ext cx="1920240" cy="566928"/>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Demande de code / PIN</a:t>
            </a:r>
            <a:endParaRPr lang="en-US" sz="1250" dirty="0"/>
          </a:p>
        </p:txBody>
      </p:sp>
      <p:sp>
        <p:nvSpPr>
          <p:cNvPr id="18" name="Text 16"/>
          <p:cNvSpPr/>
          <p:nvPr/>
        </p:nvSpPr>
        <p:spPr>
          <a:xfrm>
            <a:off x="6565392" y="2633472"/>
            <a:ext cx="2295144" cy="77724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OTP, mot de passe — « ne se partagent jamais »</a:t>
            </a:r>
            <a:endParaRPr lang="en-US" sz="1050" dirty="0"/>
          </a:p>
        </p:txBody>
      </p:sp>
      <p:sp>
        <p:nvSpPr>
          <p:cNvPr id="19" name="Shape 17"/>
          <p:cNvSpPr/>
          <p:nvPr/>
        </p:nvSpPr>
        <p:spPr>
          <a:xfrm>
            <a:off x="9226296" y="1828800"/>
            <a:ext cx="2697480" cy="1691640"/>
          </a:xfrm>
          <a:prstGeom prst="roundRect">
            <a:avLst>
              <a:gd name="adj" fmla="val 4865"/>
            </a:avLst>
          </a:prstGeom>
          <a:solidFill>
            <a:srgbClr val="F3F6FA"/>
          </a:solidFill>
          <a:ln/>
        </p:spPr>
      </p:sp>
      <p:sp>
        <p:nvSpPr>
          <p:cNvPr id="20" name="Shape 18"/>
          <p:cNvSpPr/>
          <p:nvPr/>
        </p:nvSpPr>
        <p:spPr>
          <a:xfrm>
            <a:off x="9427464" y="2029968"/>
            <a:ext cx="310896" cy="310896"/>
          </a:xfrm>
          <a:prstGeom prst="ellipse">
            <a:avLst/>
          </a:prstGeom>
          <a:solidFill>
            <a:srgbClr val="0E2A47"/>
          </a:solidFill>
          <a:ln/>
        </p:spPr>
      </p:sp>
      <p:sp>
        <p:nvSpPr>
          <p:cNvPr id="21" name="Text 19"/>
          <p:cNvSpPr/>
          <p:nvPr/>
        </p:nvSpPr>
        <p:spPr>
          <a:xfrm>
            <a:off x="9427464" y="20162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9848088" y="1993392"/>
            <a:ext cx="1920240" cy="566928"/>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Faux agent opérateur</a:t>
            </a:r>
            <a:endParaRPr lang="en-US" sz="1250" dirty="0"/>
          </a:p>
        </p:txBody>
      </p:sp>
      <p:sp>
        <p:nvSpPr>
          <p:cNvPr id="23" name="Text 21"/>
          <p:cNvSpPr/>
          <p:nvPr/>
        </p:nvSpPr>
        <p:spPr>
          <a:xfrm>
            <a:off x="9427464" y="2633472"/>
            <a:ext cx="2295144" cy="77724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 Agent Orange » + consigne d'action</a:t>
            </a:r>
            <a:endParaRPr lang="en-US" sz="1050" dirty="0"/>
          </a:p>
        </p:txBody>
      </p:sp>
      <p:sp>
        <p:nvSpPr>
          <p:cNvPr id="24" name="Shape 22"/>
          <p:cNvSpPr/>
          <p:nvPr/>
        </p:nvSpPr>
        <p:spPr>
          <a:xfrm>
            <a:off x="640080" y="3840480"/>
            <a:ext cx="2697480" cy="1691640"/>
          </a:xfrm>
          <a:prstGeom prst="roundRect">
            <a:avLst>
              <a:gd name="adj" fmla="val 4865"/>
            </a:avLst>
          </a:prstGeom>
          <a:solidFill>
            <a:srgbClr val="FDF1E3"/>
          </a:solidFill>
          <a:ln/>
        </p:spPr>
      </p:sp>
      <p:sp>
        <p:nvSpPr>
          <p:cNvPr id="25" name="Shape 23"/>
          <p:cNvSpPr/>
          <p:nvPr/>
        </p:nvSpPr>
        <p:spPr>
          <a:xfrm>
            <a:off x="841248" y="4041648"/>
            <a:ext cx="310896" cy="310896"/>
          </a:xfrm>
          <a:prstGeom prst="ellipse">
            <a:avLst/>
          </a:prstGeom>
          <a:solidFill>
            <a:srgbClr val="E8862E"/>
          </a:solidFill>
          <a:ln/>
        </p:spPr>
      </p:sp>
      <p:sp>
        <p:nvSpPr>
          <p:cNvPr id="26" name="Text 24"/>
          <p:cNvSpPr/>
          <p:nvPr/>
        </p:nvSpPr>
        <p:spPr>
          <a:xfrm>
            <a:off x="841248" y="40279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1261872" y="4005072"/>
            <a:ext cx="1920240" cy="566928"/>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SIM swap</a:t>
            </a:r>
            <a:endParaRPr lang="en-US" sz="1250" dirty="0"/>
          </a:p>
        </p:txBody>
      </p:sp>
      <p:sp>
        <p:nvSpPr>
          <p:cNvPr id="28" name="Text 26"/>
          <p:cNvSpPr/>
          <p:nvPr/>
        </p:nvSpPr>
        <p:spPr>
          <a:xfrm>
            <a:off x="841248" y="4645152"/>
            <a:ext cx="2295144" cy="77724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Remplacement de SIM, code PUK</a:t>
            </a:r>
            <a:endParaRPr lang="en-US" sz="1050" dirty="0"/>
          </a:p>
        </p:txBody>
      </p:sp>
      <p:sp>
        <p:nvSpPr>
          <p:cNvPr id="29" name="Shape 27"/>
          <p:cNvSpPr/>
          <p:nvPr/>
        </p:nvSpPr>
        <p:spPr>
          <a:xfrm>
            <a:off x="3502152" y="3840480"/>
            <a:ext cx="2697480" cy="1691640"/>
          </a:xfrm>
          <a:prstGeom prst="roundRect">
            <a:avLst>
              <a:gd name="adj" fmla="val 4865"/>
            </a:avLst>
          </a:prstGeom>
          <a:solidFill>
            <a:srgbClr val="F3F6FA"/>
          </a:solidFill>
          <a:ln/>
        </p:spPr>
      </p:sp>
      <p:sp>
        <p:nvSpPr>
          <p:cNvPr id="30" name="Shape 28"/>
          <p:cNvSpPr/>
          <p:nvPr/>
        </p:nvSpPr>
        <p:spPr>
          <a:xfrm>
            <a:off x="3703320" y="4041648"/>
            <a:ext cx="310896" cy="310896"/>
          </a:xfrm>
          <a:prstGeom prst="ellipse">
            <a:avLst/>
          </a:prstGeom>
          <a:solidFill>
            <a:srgbClr val="0E2A47"/>
          </a:solidFill>
          <a:ln/>
        </p:spPr>
      </p:sp>
      <p:sp>
        <p:nvSpPr>
          <p:cNvPr id="31" name="Text 29"/>
          <p:cNvSpPr/>
          <p:nvPr/>
        </p:nvSpPr>
        <p:spPr>
          <a:xfrm>
            <a:off x="3703320" y="40279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4123944" y="4005072"/>
            <a:ext cx="1920240" cy="566928"/>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 Envoi par erreur »</a:t>
            </a:r>
            <a:endParaRPr lang="en-US" sz="1250" dirty="0"/>
          </a:p>
        </p:txBody>
      </p:sp>
      <p:sp>
        <p:nvSpPr>
          <p:cNvPr id="33" name="Text 31"/>
          <p:cNvSpPr/>
          <p:nvPr/>
        </p:nvSpPr>
        <p:spPr>
          <a:xfrm>
            <a:off x="3703320" y="4645152"/>
            <a:ext cx="2295144" cy="77724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Faux virement + demande de remboursement</a:t>
            </a:r>
            <a:endParaRPr lang="en-US" sz="1050" dirty="0"/>
          </a:p>
        </p:txBody>
      </p:sp>
      <p:sp>
        <p:nvSpPr>
          <p:cNvPr id="34" name="Shape 32"/>
          <p:cNvSpPr/>
          <p:nvPr/>
        </p:nvSpPr>
        <p:spPr>
          <a:xfrm>
            <a:off x="6364224" y="3840480"/>
            <a:ext cx="2697480" cy="1691640"/>
          </a:xfrm>
          <a:prstGeom prst="roundRect">
            <a:avLst>
              <a:gd name="adj" fmla="val 4865"/>
            </a:avLst>
          </a:prstGeom>
          <a:solidFill>
            <a:srgbClr val="FDF1E3"/>
          </a:solidFill>
          <a:ln/>
        </p:spPr>
      </p:sp>
      <p:sp>
        <p:nvSpPr>
          <p:cNvPr id="35" name="Shape 33"/>
          <p:cNvSpPr/>
          <p:nvPr/>
        </p:nvSpPr>
        <p:spPr>
          <a:xfrm>
            <a:off x="6565392" y="4041648"/>
            <a:ext cx="310896" cy="310896"/>
          </a:xfrm>
          <a:prstGeom prst="ellipse">
            <a:avLst/>
          </a:prstGeom>
          <a:solidFill>
            <a:srgbClr val="E8862E"/>
          </a:solidFill>
          <a:ln/>
        </p:spPr>
      </p:sp>
      <p:sp>
        <p:nvSpPr>
          <p:cNvPr id="36" name="Text 34"/>
          <p:cNvSpPr/>
          <p:nvPr/>
        </p:nvSpPr>
        <p:spPr>
          <a:xfrm>
            <a:off x="6565392" y="40279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p:nvPr/>
        </p:nvSpPr>
        <p:spPr>
          <a:xfrm>
            <a:off x="6986016" y="4005072"/>
            <a:ext cx="1920240" cy="566928"/>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Appât au gain</a:t>
            </a:r>
            <a:endParaRPr lang="en-US" sz="1250" dirty="0"/>
          </a:p>
        </p:txBody>
      </p:sp>
      <p:sp>
        <p:nvSpPr>
          <p:cNvPr id="38" name="Text 36"/>
          <p:cNvSpPr/>
          <p:nvPr/>
        </p:nvSpPr>
        <p:spPr>
          <a:xfrm>
            <a:off x="6565392" y="4645152"/>
            <a:ext cx="2295144" cy="77724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Loterie, tombola, « envoyez 10$, recevez 500$ »</a:t>
            </a:r>
            <a:endParaRPr lang="en-US" sz="1050" dirty="0"/>
          </a:p>
        </p:txBody>
      </p:sp>
      <p:sp>
        <p:nvSpPr>
          <p:cNvPr id="39" name="Shape 37"/>
          <p:cNvSpPr/>
          <p:nvPr/>
        </p:nvSpPr>
        <p:spPr>
          <a:xfrm>
            <a:off x="9226296" y="3840480"/>
            <a:ext cx="2697480" cy="1691640"/>
          </a:xfrm>
          <a:prstGeom prst="roundRect">
            <a:avLst>
              <a:gd name="adj" fmla="val 4865"/>
            </a:avLst>
          </a:prstGeom>
          <a:solidFill>
            <a:srgbClr val="F3F6FA"/>
          </a:solidFill>
          <a:ln/>
        </p:spPr>
      </p:sp>
      <p:sp>
        <p:nvSpPr>
          <p:cNvPr id="40" name="Shape 38"/>
          <p:cNvSpPr/>
          <p:nvPr/>
        </p:nvSpPr>
        <p:spPr>
          <a:xfrm>
            <a:off x="9427464" y="4041648"/>
            <a:ext cx="310896" cy="310896"/>
          </a:xfrm>
          <a:prstGeom prst="ellipse">
            <a:avLst/>
          </a:prstGeom>
          <a:solidFill>
            <a:srgbClr val="0E2A47"/>
          </a:solidFill>
          <a:ln/>
        </p:spPr>
      </p:sp>
      <p:sp>
        <p:nvSpPr>
          <p:cNvPr id="41" name="Text 39"/>
          <p:cNvSpPr/>
          <p:nvPr/>
        </p:nvSpPr>
        <p:spPr>
          <a:xfrm>
            <a:off x="9427464" y="40279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2" name="Text 40"/>
          <p:cNvSpPr/>
          <p:nvPr/>
        </p:nvSpPr>
        <p:spPr>
          <a:xfrm>
            <a:off x="9848088" y="4005072"/>
            <a:ext cx="1920240" cy="566928"/>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Codes USSD dictés</a:t>
            </a:r>
            <a:endParaRPr lang="en-US" sz="1250" dirty="0"/>
          </a:p>
        </p:txBody>
      </p:sp>
      <p:sp>
        <p:nvSpPr>
          <p:cNvPr id="43" name="Text 41"/>
          <p:cNvSpPr/>
          <p:nvPr/>
        </p:nvSpPr>
        <p:spPr>
          <a:xfrm>
            <a:off x="9427464" y="4645152"/>
            <a:ext cx="2295144" cy="777240"/>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*123*…# : transferts ou renvois d'appel</a:t>
            </a:r>
            <a:endParaRPr lang="en-US" sz="1050" dirty="0"/>
          </a:p>
        </p:txBody>
      </p:sp>
      <p:sp>
        <p:nvSpPr>
          <p:cNvPr id="45" name="Text 42"/>
          <p:cNvSpPr/>
          <p:nvPr/>
        </p:nvSpPr>
        <p:spPr>
          <a:xfrm>
            <a:off x="11503152" y="640080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E8862E"/>
                </a:solidFill>
                <a:latin typeface="Calibri" pitchFamily="34" charset="0"/>
                <a:ea typeface="Calibri" pitchFamily="34" charset="-122"/>
                <a:cs typeface="Calibri" pitchFamily="34" charset="-120"/>
              </a:rPr>
              <a:t>RÉALISATION — CLIENT</a:t>
            </a:r>
            <a:endParaRPr lang="en-US" sz="11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Application Android (Kotlin)</a:t>
            </a:r>
            <a:endParaRPr lang="en-US" sz="3200" dirty="0"/>
          </a:p>
        </p:txBody>
      </p:sp>
      <p:sp>
        <p:nvSpPr>
          <p:cNvPr id="4" name="Shape 2"/>
          <p:cNvSpPr/>
          <p:nvPr/>
        </p:nvSpPr>
        <p:spPr>
          <a:xfrm>
            <a:off x="640080" y="1709928"/>
            <a:ext cx="384048" cy="384048"/>
          </a:xfrm>
          <a:prstGeom prst="ellipse">
            <a:avLst/>
          </a:prstGeom>
          <a:solidFill>
            <a:srgbClr val="0E2A47"/>
          </a:solidFill>
          <a:ln/>
        </p:spPr>
      </p:sp>
      <p:sp>
        <p:nvSpPr>
          <p:cNvPr id="5" name="Text 3"/>
          <p:cNvSpPr/>
          <p:nvPr/>
        </p:nvSpPr>
        <p:spPr>
          <a:xfrm>
            <a:off x="640080" y="16962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34440" y="1636776"/>
            <a:ext cx="6035040" cy="292608"/>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Authentification robuste</a:t>
            </a:r>
            <a:endParaRPr lang="en-US" sz="1450" dirty="0"/>
          </a:p>
        </p:txBody>
      </p:sp>
      <p:sp>
        <p:nvSpPr>
          <p:cNvPr id="7" name="Text 5"/>
          <p:cNvSpPr/>
          <p:nvPr/>
        </p:nvSpPr>
        <p:spPr>
          <a:xfrm>
            <a:off x="1234440" y="1929384"/>
            <a:ext cx="6035040" cy="54864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Compte Firebase + MFA par SMS, validation par l'administrateur avant activation.</a:t>
            </a:r>
            <a:endParaRPr lang="en-US" sz="1150" dirty="0"/>
          </a:p>
        </p:txBody>
      </p:sp>
      <p:sp>
        <p:nvSpPr>
          <p:cNvPr id="8" name="Shape 6"/>
          <p:cNvSpPr/>
          <p:nvPr/>
        </p:nvSpPr>
        <p:spPr>
          <a:xfrm>
            <a:off x="640080" y="2606040"/>
            <a:ext cx="384048" cy="384048"/>
          </a:xfrm>
          <a:prstGeom prst="ellipse">
            <a:avLst/>
          </a:prstGeom>
          <a:solidFill>
            <a:srgbClr val="0E2A47"/>
          </a:solidFill>
          <a:ln/>
        </p:spPr>
      </p:sp>
      <p:sp>
        <p:nvSpPr>
          <p:cNvPr id="9" name="Text 7"/>
          <p:cNvSpPr/>
          <p:nvPr/>
        </p:nvSpPr>
        <p:spPr>
          <a:xfrm>
            <a:off x="640080" y="25923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34440" y="2532888"/>
            <a:ext cx="6035040" cy="292608"/>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Capture consentie</a:t>
            </a:r>
            <a:endParaRPr lang="en-US" sz="1450" dirty="0"/>
          </a:p>
        </p:txBody>
      </p:sp>
      <p:sp>
        <p:nvSpPr>
          <p:cNvPr id="11" name="Text 9"/>
          <p:cNvSpPr/>
          <p:nvPr/>
        </p:nvSpPr>
        <p:spPr>
          <a:xfrm>
            <a:off x="1234440" y="2825496"/>
            <a:ext cx="6035040" cy="54864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Récepteur SMS et écoute des notifications (WhatsApp, opérateurs) — activables et révocables.</a:t>
            </a:r>
            <a:endParaRPr lang="en-US" sz="1150" dirty="0"/>
          </a:p>
        </p:txBody>
      </p:sp>
      <p:sp>
        <p:nvSpPr>
          <p:cNvPr id="12" name="Shape 10"/>
          <p:cNvSpPr/>
          <p:nvPr/>
        </p:nvSpPr>
        <p:spPr>
          <a:xfrm>
            <a:off x="640080" y="3502152"/>
            <a:ext cx="384048" cy="384048"/>
          </a:xfrm>
          <a:prstGeom prst="ellipse">
            <a:avLst/>
          </a:prstGeom>
          <a:solidFill>
            <a:srgbClr val="0E2A47"/>
          </a:solidFill>
          <a:ln/>
        </p:spPr>
      </p:sp>
      <p:sp>
        <p:nvSpPr>
          <p:cNvPr id="13" name="Text 11"/>
          <p:cNvSpPr/>
          <p:nvPr/>
        </p:nvSpPr>
        <p:spPr>
          <a:xfrm>
            <a:off x="640080" y="34884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34440" y="3429000"/>
            <a:ext cx="6035040" cy="292608"/>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Analyse locale + remontée</a:t>
            </a:r>
            <a:endParaRPr lang="en-US" sz="1450" dirty="0"/>
          </a:p>
        </p:txBody>
      </p:sp>
      <p:sp>
        <p:nvSpPr>
          <p:cNvPr id="15" name="Text 13"/>
          <p:cNvSpPr/>
          <p:nvPr/>
        </p:nvSpPr>
        <p:spPr>
          <a:xfrm>
            <a:off x="1234440" y="3721608"/>
            <a:ext cx="6035040" cy="54864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Pré-filtrage des messages, envoi sécurisé au serveur, service de surveillance au premier plan.</a:t>
            </a:r>
            <a:endParaRPr lang="en-US" sz="1150" dirty="0"/>
          </a:p>
        </p:txBody>
      </p:sp>
      <p:sp>
        <p:nvSpPr>
          <p:cNvPr id="16" name="Shape 14"/>
          <p:cNvSpPr/>
          <p:nvPr/>
        </p:nvSpPr>
        <p:spPr>
          <a:xfrm>
            <a:off x="640080" y="4398264"/>
            <a:ext cx="384048" cy="384048"/>
          </a:xfrm>
          <a:prstGeom prst="ellipse">
            <a:avLst/>
          </a:prstGeom>
          <a:solidFill>
            <a:srgbClr val="E8862E"/>
          </a:solidFill>
          <a:ln/>
        </p:spPr>
      </p:sp>
      <p:sp>
        <p:nvSpPr>
          <p:cNvPr id="17" name="Text 15"/>
          <p:cNvSpPr/>
          <p:nvPr/>
        </p:nvSpPr>
        <p:spPr>
          <a:xfrm>
            <a:off x="640080" y="43845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234440" y="4325112"/>
            <a:ext cx="6035040" cy="292608"/>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Alerte immédiate</a:t>
            </a:r>
            <a:endParaRPr lang="en-US" sz="1450" dirty="0"/>
          </a:p>
        </p:txBody>
      </p:sp>
      <p:sp>
        <p:nvSpPr>
          <p:cNvPr id="19" name="Text 17"/>
          <p:cNvSpPr/>
          <p:nvPr/>
        </p:nvSpPr>
        <p:spPr>
          <a:xfrm>
            <a:off x="1234440" y="4617720"/>
            <a:ext cx="6035040" cy="54864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Notification push FCM dès qu'une fraude est confirmée par le serveur.</a:t>
            </a:r>
            <a:endParaRPr lang="en-US" sz="1150" dirty="0"/>
          </a:p>
        </p:txBody>
      </p:sp>
      <p:sp>
        <p:nvSpPr>
          <p:cNvPr id="20" name="Shape 18"/>
          <p:cNvSpPr/>
          <p:nvPr/>
        </p:nvSpPr>
        <p:spPr>
          <a:xfrm>
            <a:off x="640080" y="5294376"/>
            <a:ext cx="384048" cy="384048"/>
          </a:xfrm>
          <a:prstGeom prst="ellipse">
            <a:avLst/>
          </a:prstGeom>
          <a:solidFill>
            <a:srgbClr val="0E2A47"/>
          </a:solidFill>
          <a:ln/>
        </p:spPr>
      </p:sp>
      <p:sp>
        <p:nvSpPr>
          <p:cNvPr id="21" name="Text 19"/>
          <p:cNvSpPr/>
          <p:nvPr/>
        </p:nvSpPr>
        <p:spPr>
          <a:xfrm>
            <a:off x="640080" y="52806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234440" y="5221224"/>
            <a:ext cx="6035040" cy="292608"/>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Données protégées</a:t>
            </a:r>
            <a:endParaRPr lang="en-US" sz="1450" dirty="0"/>
          </a:p>
        </p:txBody>
      </p:sp>
      <p:sp>
        <p:nvSpPr>
          <p:cNvPr id="23" name="Text 21"/>
          <p:cNvSpPr/>
          <p:nvPr/>
        </p:nvSpPr>
        <p:spPr>
          <a:xfrm>
            <a:off x="1234440" y="5513832"/>
            <a:ext cx="6035040" cy="54864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Préférences chiffrées (EncryptedSharedPreferences), aucune sauvegarde automatique.</a:t>
            </a:r>
            <a:endParaRPr lang="en-US" sz="1150" dirty="0"/>
          </a:p>
        </p:txBody>
      </p:sp>
      <p:sp>
        <p:nvSpPr>
          <p:cNvPr id="24" name="Shape 22"/>
          <p:cNvSpPr/>
          <p:nvPr/>
        </p:nvSpPr>
        <p:spPr>
          <a:xfrm>
            <a:off x="8595360" y="1554480"/>
            <a:ext cx="2377440" cy="4663440"/>
          </a:xfrm>
          <a:prstGeom prst="roundRect">
            <a:avLst>
              <a:gd name="adj" fmla="val 9615"/>
            </a:avLst>
          </a:prstGeom>
          <a:solidFill>
            <a:srgbClr val="0E2A47"/>
          </a:solidFill>
          <a:ln/>
          <a:effectLst>
            <a:outerShdw sx="100000" sy="100000" kx="0" ky="0" algn="bl" rotWithShape="0" blurRad="114300" dist="38100" dir="5400000">
              <a:srgbClr val="9AA7B4">
                <a:alpha val="40000"/>
              </a:srgbClr>
            </a:outerShdw>
          </a:effectLst>
        </p:spPr>
      </p:sp>
      <p:sp>
        <p:nvSpPr>
          <p:cNvPr id="25" name="Shape 23"/>
          <p:cNvSpPr/>
          <p:nvPr/>
        </p:nvSpPr>
        <p:spPr>
          <a:xfrm>
            <a:off x="8705088" y="1874520"/>
            <a:ext cx="2157984" cy="4114800"/>
          </a:xfrm>
          <a:prstGeom prst="roundRect">
            <a:avLst>
              <a:gd name="adj" fmla="val 5085"/>
            </a:avLst>
          </a:prstGeom>
          <a:solidFill>
            <a:srgbClr val="FFFFFF"/>
          </a:solidFill>
          <a:ln/>
        </p:spPr>
      </p:sp>
      <p:sp>
        <p:nvSpPr>
          <p:cNvPr id="26" name="Shape 24"/>
          <p:cNvSpPr/>
          <p:nvPr/>
        </p:nvSpPr>
        <p:spPr>
          <a:xfrm>
            <a:off x="9418320" y="1664208"/>
            <a:ext cx="731520" cy="109728"/>
          </a:xfrm>
          <a:prstGeom prst="roundRect">
            <a:avLst>
              <a:gd name="adj" fmla="val 50000"/>
            </a:avLst>
          </a:prstGeom>
          <a:solidFill>
            <a:srgbClr val="16395F"/>
          </a:solidFill>
          <a:ln/>
        </p:spPr>
      </p:sp>
      <p:sp>
        <p:nvSpPr>
          <p:cNvPr id="27" name="Text 25"/>
          <p:cNvSpPr/>
          <p:nvPr/>
        </p:nvSpPr>
        <p:spPr>
          <a:xfrm>
            <a:off x="8823960" y="2011680"/>
            <a:ext cx="1920240" cy="274320"/>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MoMoGuard</a:t>
            </a:r>
            <a:endParaRPr lang="en-US" sz="1200" dirty="0"/>
          </a:p>
        </p:txBody>
      </p:sp>
      <p:sp>
        <p:nvSpPr>
          <p:cNvPr id="28" name="Shape 26"/>
          <p:cNvSpPr/>
          <p:nvPr/>
        </p:nvSpPr>
        <p:spPr>
          <a:xfrm>
            <a:off x="8823960" y="2423160"/>
            <a:ext cx="1920240" cy="914400"/>
          </a:xfrm>
          <a:prstGeom prst="roundRect">
            <a:avLst>
              <a:gd name="adj" fmla="val 7000"/>
            </a:avLst>
          </a:prstGeom>
          <a:solidFill>
            <a:srgbClr val="FBE9E5"/>
          </a:solidFill>
          <a:ln/>
        </p:spPr>
      </p:sp>
      <p:sp>
        <p:nvSpPr>
          <p:cNvPr id="29" name="Text 27"/>
          <p:cNvSpPr/>
          <p:nvPr/>
        </p:nvSpPr>
        <p:spPr>
          <a:xfrm>
            <a:off x="8915400" y="2514600"/>
            <a:ext cx="1737360" cy="777240"/>
          </a:xfrm>
          <a:prstGeom prst="rect">
            <a:avLst/>
          </a:prstGeom>
          <a:noFill/>
          <a:ln/>
        </p:spPr>
        <p:txBody>
          <a:bodyPr wrap="square" lIns="0" tIns="0" rIns="0" bIns="0" rtlCol="0" anchor="ctr"/>
          <a:lstStyle/>
          <a:p>
            <a:pPr indent="0" marL="0">
              <a:buNone/>
            </a:pPr>
            <a:r>
              <a:rPr lang="en-US" sz="950" b="1" dirty="0">
                <a:solidFill>
                  <a:srgbClr val="C0442C"/>
                </a:solidFill>
                <a:latin typeface="Calibri" pitchFamily="34" charset="0"/>
                <a:ea typeface="Calibri" pitchFamily="34" charset="-122"/>
                <a:cs typeface="Calibri" pitchFamily="34" charset="-120"/>
              </a:rPr>
              <a:t>ALERTE ÉLEVÉE</a:t>
            </a:r>
            <a:endParaRPr lang="en-US" sz="950" dirty="0"/>
          </a:p>
          <a:p>
            <a:pPr indent="0" marL="0">
              <a:buNone/>
            </a:pPr>
            <a:r>
              <a:rPr lang="en-US" sz="850" dirty="0">
                <a:solidFill>
                  <a:srgbClr val="1B2A3A"/>
                </a:solidFill>
                <a:latin typeface="Calibri" pitchFamily="34" charset="0"/>
                <a:ea typeface="Calibri" pitchFamily="34" charset="-122"/>
                <a:cs typeface="Calibri" pitchFamily="34" charset="-120"/>
              </a:rPr>
              <a:t>SMS suspect : domaine sosie + urgence</a:t>
            </a:r>
            <a:endParaRPr lang="en-US" sz="950" dirty="0"/>
          </a:p>
        </p:txBody>
      </p:sp>
      <p:sp>
        <p:nvSpPr>
          <p:cNvPr id="30" name="Shape 28"/>
          <p:cNvSpPr/>
          <p:nvPr/>
        </p:nvSpPr>
        <p:spPr>
          <a:xfrm>
            <a:off x="8823960" y="3474720"/>
            <a:ext cx="1920240" cy="914400"/>
          </a:xfrm>
          <a:prstGeom prst="roundRect">
            <a:avLst>
              <a:gd name="adj" fmla="val 7000"/>
            </a:avLst>
          </a:prstGeom>
          <a:solidFill>
            <a:srgbClr val="FDF1E3"/>
          </a:solidFill>
          <a:ln/>
        </p:spPr>
      </p:sp>
      <p:sp>
        <p:nvSpPr>
          <p:cNvPr id="31" name="Text 29"/>
          <p:cNvSpPr/>
          <p:nvPr/>
        </p:nvSpPr>
        <p:spPr>
          <a:xfrm>
            <a:off x="8915400" y="3566160"/>
            <a:ext cx="1737360" cy="777240"/>
          </a:xfrm>
          <a:prstGeom prst="rect">
            <a:avLst/>
          </a:prstGeom>
          <a:noFill/>
          <a:ln/>
        </p:spPr>
        <p:txBody>
          <a:bodyPr wrap="square" lIns="0" tIns="0" rIns="0" bIns="0" rtlCol="0" anchor="ctr"/>
          <a:lstStyle/>
          <a:p>
            <a:pPr indent="0" marL="0">
              <a:buNone/>
            </a:pPr>
            <a:r>
              <a:rPr lang="en-US" sz="950" b="1" dirty="0">
                <a:solidFill>
                  <a:srgbClr val="E8862E"/>
                </a:solidFill>
                <a:latin typeface="Calibri" pitchFamily="34" charset="0"/>
                <a:ea typeface="Calibri" pitchFamily="34" charset="-122"/>
                <a:cs typeface="Calibri" pitchFamily="34" charset="-120"/>
              </a:rPr>
              <a:t>ALERTE MOYENNE</a:t>
            </a:r>
            <a:endParaRPr lang="en-US" sz="950" dirty="0"/>
          </a:p>
          <a:p>
            <a:pPr indent="0" marL="0">
              <a:buNone/>
            </a:pPr>
            <a:r>
              <a:rPr lang="en-US" sz="850" dirty="0">
                <a:solidFill>
                  <a:srgbClr val="1B2A3A"/>
                </a:solidFill>
                <a:latin typeface="Calibri" pitchFamily="34" charset="0"/>
                <a:ea typeface="Calibri" pitchFamily="34" charset="-122"/>
                <a:cs typeface="Calibri" pitchFamily="34" charset="-120"/>
              </a:rPr>
              <a:t>Lien raccourci bit.ly détecté</a:t>
            </a:r>
            <a:endParaRPr lang="en-US" sz="950" dirty="0"/>
          </a:p>
        </p:txBody>
      </p:sp>
      <p:sp>
        <p:nvSpPr>
          <p:cNvPr id="32" name="Shape 30"/>
          <p:cNvSpPr/>
          <p:nvPr/>
        </p:nvSpPr>
        <p:spPr>
          <a:xfrm>
            <a:off x="9464040" y="4617720"/>
            <a:ext cx="640080" cy="640080"/>
          </a:xfrm>
          <a:prstGeom prst="ellipse">
            <a:avLst/>
          </a:prstGeom>
          <a:solidFill>
            <a:srgbClr val="2E8C7F"/>
          </a:solidFill>
          <a:ln/>
        </p:spPr>
      </p:sp>
      <p:sp>
        <p:nvSpPr>
          <p:cNvPr id="33" name="Text 31"/>
          <p:cNvSpPr/>
          <p:nvPr/>
        </p:nvSpPr>
        <p:spPr>
          <a:xfrm>
            <a:off x="9464040" y="4599432"/>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ON</a:t>
            </a:r>
            <a:endParaRPr lang="en-US" sz="1200" dirty="0"/>
          </a:p>
        </p:txBody>
      </p:sp>
      <p:sp>
        <p:nvSpPr>
          <p:cNvPr id="34" name="Text 32"/>
          <p:cNvSpPr/>
          <p:nvPr/>
        </p:nvSpPr>
        <p:spPr>
          <a:xfrm>
            <a:off x="8823960" y="5321808"/>
            <a:ext cx="1920240" cy="274320"/>
          </a:xfrm>
          <a:prstGeom prst="rect">
            <a:avLst/>
          </a:prstGeom>
          <a:noFill/>
          <a:ln/>
        </p:spPr>
        <p:txBody>
          <a:bodyPr wrap="square" lIns="0" tIns="0" rIns="0" bIns="0" rtlCol="0" anchor="ctr"/>
          <a:lstStyle/>
          <a:p>
            <a:pPr algn="ctr" indent="0" marL="0">
              <a:buNone/>
            </a:pPr>
            <a:r>
              <a:rPr lang="en-US" sz="950" dirty="0">
                <a:solidFill>
                  <a:srgbClr val="5B6B7C"/>
                </a:solidFill>
                <a:latin typeface="Calibri" pitchFamily="34" charset="0"/>
                <a:ea typeface="Calibri" pitchFamily="34" charset="-122"/>
                <a:cs typeface="Calibri" pitchFamily="34" charset="-120"/>
              </a:rPr>
              <a:t>Protection active</a:t>
            </a:r>
            <a:endParaRPr lang="en-US" sz="950" dirty="0"/>
          </a:p>
        </p:txBody>
      </p:sp>
      <p:sp>
        <p:nvSpPr>
          <p:cNvPr id="36" name="Text 33"/>
          <p:cNvSpPr/>
          <p:nvPr/>
        </p:nvSpPr>
        <p:spPr>
          <a:xfrm>
            <a:off x="11503152" y="640080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E8862E"/>
                </a:solidFill>
                <a:latin typeface="Calibri" pitchFamily="34" charset="0"/>
                <a:ea typeface="Calibri" pitchFamily="34" charset="-122"/>
                <a:cs typeface="Calibri" pitchFamily="34" charset="-120"/>
              </a:rPr>
              <a:t>RÉALISATION — SERVEUR</a:t>
            </a:r>
            <a:endParaRPr lang="en-US" sz="11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Supervision, sécurité et administration</a:t>
            </a:r>
            <a:endParaRPr lang="en-US" sz="3200" dirty="0"/>
          </a:p>
        </p:txBody>
      </p:sp>
      <p:sp>
        <p:nvSpPr>
          <p:cNvPr id="4" name="Text 2"/>
          <p:cNvSpPr/>
          <p:nvPr/>
        </p:nvSpPr>
        <p:spPr>
          <a:xfrm>
            <a:off x="640080" y="1600200"/>
            <a:ext cx="2651760" cy="777240"/>
          </a:xfrm>
          <a:prstGeom prst="rect">
            <a:avLst/>
          </a:prstGeom>
          <a:noFill/>
          <a:ln/>
        </p:spPr>
        <p:txBody>
          <a:bodyPr wrap="square" lIns="0" tIns="0" rIns="0" bIns="0" rtlCol="0" anchor="ctr"/>
          <a:lstStyle/>
          <a:p>
            <a:pPr indent="0" marL="0">
              <a:buNone/>
            </a:pPr>
            <a:r>
              <a:rPr lang="en-US" sz="4800" b="1" dirty="0">
                <a:solidFill>
                  <a:srgbClr val="0E2A47"/>
                </a:solidFill>
                <a:latin typeface="Cambria" pitchFamily="34" charset="0"/>
                <a:ea typeface="Cambria" pitchFamily="34" charset="-122"/>
                <a:cs typeface="Cambria" pitchFamily="34" charset="-120"/>
              </a:rPr>
              <a:t>36</a:t>
            </a:r>
            <a:endParaRPr lang="en-US" sz="4800" dirty="0"/>
          </a:p>
        </p:txBody>
      </p:sp>
      <p:sp>
        <p:nvSpPr>
          <p:cNvPr id="5" name="Text 3"/>
          <p:cNvSpPr/>
          <p:nvPr/>
        </p:nvSpPr>
        <p:spPr>
          <a:xfrm>
            <a:off x="640080" y="2377440"/>
            <a:ext cx="265176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routes API &amp; pages</a:t>
            </a:r>
            <a:endParaRPr lang="en-US" sz="1200" dirty="0"/>
          </a:p>
        </p:txBody>
      </p:sp>
      <p:sp>
        <p:nvSpPr>
          <p:cNvPr id="6" name="Text 4"/>
          <p:cNvSpPr/>
          <p:nvPr/>
        </p:nvSpPr>
        <p:spPr>
          <a:xfrm>
            <a:off x="3493008" y="1600200"/>
            <a:ext cx="2651760" cy="777240"/>
          </a:xfrm>
          <a:prstGeom prst="rect">
            <a:avLst/>
          </a:prstGeom>
          <a:noFill/>
          <a:ln/>
        </p:spPr>
        <p:txBody>
          <a:bodyPr wrap="square" lIns="0" tIns="0" rIns="0" bIns="0" rtlCol="0" anchor="ctr"/>
          <a:lstStyle/>
          <a:p>
            <a:pPr indent="0" marL="0">
              <a:buNone/>
            </a:pPr>
            <a:r>
              <a:rPr lang="en-US" sz="4800" b="1" dirty="0">
                <a:solidFill>
                  <a:srgbClr val="0E2A47"/>
                </a:solidFill>
                <a:latin typeface="Cambria" pitchFamily="34" charset="0"/>
                <a:ea typeface="Cambria" pitchFamily="34" charset="-122"/>
                <a:cs typeface="Cambria" pitchFamily="34" charset="-120"/>
              </a:rPr>
              <a:t>17</a:t>
            </a:r>
            <a:endParaRPr lang="en-US" sz="4800" dirty="0"/>
          </a:p>
        </p:txBody>
      </p:sp>
      <p:sp>
        <p:nvSpPr>
          <p:cNvPr id="7" name="Text 5"/>
          <p:cNvSpPr/>
          <p:nvPr/>
        </p:nvSpPr>
        <p:spPr>
          <a:xfrm>
            <a:off x="3493008" y="2377440"/>
            <a:ext cx="265176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écrans d'administration</a:t>
            </a:r>
            <a:endParaRPr lang="en-US" sz="1200" dirty="0"/>
          </a:p>
        </p:txBody>
      </p:sp>
      <p:sp>
        <p:nvSpPr>
          <p:cNvPr id="8" name="Text 6"/>
          <p:cNvSpPr/>
          <p:nvPr/>
        </p:nvSpPr>
        <p:spPr>
          <a:xfrm>
            <a:off x="6345936" y="1600200"/>
            <a:ext cx="2651760" cy="777240"/>
          </a:xfrm>
          <a:prstGeom prst="rect">
            <a:avLst/>
          </a:prstGeom>
          <a:noFill/>
          <a:ln/>
        </p:spPr>
        <p:txBody>
          <a:bodyPr wrap="square" lIns="0" tIns="0" rIns="0" bIns="0" rtlCol="0" anchor="ctr"/>
          <a:lstStyle/>
          <a:p>
            <a:pPr indent="0" marL="0">
              <a:buNone/>
            </a:pPr>
            <a:r>
              <a:rPr lang="en-US" sz="4800" b="1" dirty="0">
                <a:solidFill>
                  <a:srgbClr val="E8862E"/>
                </a:solidFill>
                <a:latin typeface="Cambria" pitchFamily="34" charset="0"/>
                <a:ea typeface="Cambria" pitchFamily="34" charset="-122"/>
                <a:cs typeface="Cambria" pitchFamily="34" charset="-120"/>
              </a:rPr>
              <a:t>58</a:t>
            </a:r>
            <a:endParaRPr lang="en-US" sz="4800" dirty="0"/>
          </a:p>
        </p:txBody>
      </p:sp>
      <p:sp>
        <p:nvSpPr>
          <p:cNvPr id="9" name="Text 7"/>
          <p:cNvSpPr/>
          <p:nvPr/>
        </p:nvSpPr>
        <p:spPr>
          <a:xfrm>
            <a:off x="6345936" y="2377440"/>
            <a:ext cx="265176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tests automatisés</a:t>
            </a:r>
            <a:endParaRPr lang="en-US" sz="1200" dirty="0"/>
          </a:p>
        </p:txBody>
      </p:sp>
      <p:sp>
        <p:nvSpPr>
          <p:cNvPr id="10" name="Text 8"/>
          <p:cNvSpPr/>
          <p:nvPr/>
        </p:nvSpPr>
        <p:spPr>
          <a:xfrm>
            <a:off x="9198864" y="1600200"/>
            <a:ext cx="2651760" cy="777240"/>
          </a:xfrm>
          <a:prstGeom prst="rect">
            <a:avLst/>
          </a:prstGeom>
          <a:noFill/>
          <a:ln/>
        </p:spPr>
        <p:txBody>
          <a:bodyPr wrap="square" lIns="0" tIns="0" rIns="0" bIns="0" rtlCol="0" anchor="ctr"/>
          <a:lstStyle/>
          <a:p>
            <a:pPr indent="0" marL="0">
              <a:buNone/>
            </a:pPr>
            <a:r>
              <a:rPr lang="en-US" sz="4800" b="1" dirty="0">
                <a:solidFill>
                  <a:srgbClr val="0E2A47"/>
                </a:solidFill>
                <a:latin typeface="Cambria" pitchFamily="34" charset="0"/>
                <a:ea typeface="Cambria" pitchFamily="34" charset="-122"/>
                <a:cs typeface="Cambria" pitchFamily="34" charset="-120"/>
              </a:rPr>
              <a:t>3</a:t>
            </a:r>
            <a:endParaRPr lang="en-US" sz="4800" dirty="0"/>
          </a:p>
        </p:txBody>
      </p:sp>
      <p:sp>
        <p:nvSpPr>
          <p:cNvPr id="11" name="Text 9"/>
          <p:cNvSpPr/>
          <p:nvPr/>
        </p:nvSpPr>
        <p:spPr>
          <a:xfrm>
            <a:off x="9198864" y="2377440"/>
            <a:ext cx="265176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SGBD supportés</a:t>
            </a:r>
            <a:endParaRPr lang="en-US" sz="1200" dirty="0"/>
          </a:p>
        </p:txBody>
      </p:sp>
      <p:sp>
        <p:nvSpPr>
          <p:cNvPr id="12" name="Shape 10"/>
          <p:cNvSpPr/>
          <p:nvPr/>
        </p:nvSpPr>
        <p:spPr>
          <a:xfrm>
            <a:off x="640080" y="3063240"/>
            <a:ext cx="5486400" cy="1371600"/>
          </a:xfrm>
          <a:prstGeom prst="roundRect">
            <a:avLst>
              <a:gd name="adj" fmla="val 6000"/>
            </a:avLst>
          </a:prstGeom>
          <a:solidFill>
            <a:srgbClr val="F3F6FA"/>
          </a:solidFill>
          <a:ln/>
        </p:spPr>
      </p:sp>
      <p:sp>
        <p:nvSpPr>
          <p:cNvPr id="13" name="Text 11"/>
          <p:cNvSpPr/>
          <p:nvPr/>
        </p:nvSpPr>
        <p:spPr>
          <a:xfrm>
            <a:off x="914400" y="3227832"/>
            <a:ext cx="4937760" cy="32004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Dashboard temps réel</a:t>
            </a:r>
            <a:endParaRPr lang="en-US" sz="1450" dirty="0"/>
          </a:p>
        </p:txBody>
      </p:sp>
      <p:sp>
        <p:nvSpPr>
          <p:cNvPr id="14" name="Text 12"/>
          <p:cNvSpPr/>
          <p:nvPr/>
        </p:nvSpPr>
        <p:spPr>
          <a:xfrm>
            <a:off x="914400" y="3575304"/>
            <a:ext cx="4937760" cy="77724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Alertes poussées en WebSocket, statistiques, export CSV, analyse manuelle de messages.</a:t>
            </a:r>
            <a:endParaRPr lang="en-US" sz="1150" dirty="0"/>
          </a:p>
        </p:txBody>
      </p:sp>
      <p:sp>
        <p:nvSpPr>
          <p:cNvPr id="15" name="Shape 13"/>
          <p:cNvSpPr/>
          <p:nvPr/>
        </p:nvSpPr>
        <p:spPr>
          <a:xfrm>
            <a:off x="6492240" y="3063240"/>
            <a:ext cx="5486400" cy="1371600"/>
          </a:xfrm>
          <a:prstGeom prst="roundRect">
            <a:avLst>
              <a:gd name="adj" fmla="val 6000"/>
            </a:avLst>
          </a:prstGeom>
          <a:solidFill>
            <a:srgbClr val="F3F6FA"/>
          </a:solidFill>
          <a:ln/>
        </p:spPr>
      </p:sp>
      <p:sp>
        <p:nvSpPr>
          <p:cNvPr id="16" name="Text 14"/>
          <p:cNvSpPr/>
          <p:nvPr/>
        </p:nvSpPr>
        <p:spPr>
          <a:xfrm>
            <a:off x="6766560" y="3227832"/>
            <a:ext cx="4937760" cy="32004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Sécurité de l'admin</a:t>
            </a:r>
            <a:endParaRPr lang="en-US" sz="1450" dirty="0"/>
          </a:p>
        </p:txBody>
      </p:sp>
      <p:sp>
        <p:nvSpPr>
          <p:cNvPr id="17" name="Text 15"/>
          <p:cNvSpPr/>
          <p:nvPr/>
        </p:nvSpPr>
        <p:spPr>
          <a:xfrm>
            <a:off x="6766560" y="3575304"/>
            <a:ext cx="4937760" cy="77724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2FA TOTP (QR code), verrouillage anti force brute, journal d'audit de chaque action.</a:t>
            </a:r>
            <a:endParaRPr lang="en-US" sz="1150" dirty="0"/>
          </a:p>
        </p:txBody>
      </p:sp>
      <p:sp>
        <p:nvSpPr>
          <p:cNvPr id="18" name="Shape 16"/>
          <p:cNvSpPr/>
          <p:nvPr/>
        </p:nvSpPr>
        <p:spPr>
          <a:xfrm>
            <a:off x="640080" y="4754880"/>
            <a:ext cx="5486400" cy="1371600"/>
          </a:xfrm>
          <a:prstGeom prst="roundRect">
            <a:avLst>
              <a:gd name="adj" fmla="val 6000"/>
            </a:avLst>
          </a:prstGeom>
          <a:solidFill>
            <a:srgbClr val="F3F6FA"/>
          </a:solidFill>
          <a:ln/>
        </p:spPr>
      </p:sp>
      <p:sp>
        <p:nvSpPr>
          <p:cNvPr id="19" name="Text 17"/>
          <p:cNvSpPr/>
          <p:nvPr/>
        </p:nvSpPr>
        <p:spPr>
          <a:xfrm>
            <a:off x="914400" y="4919472"/>
            <a:ext cx="4937760" cy="32004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Gestion du parc</a:t>
            </a:r>
            <a:endParaRPr lang="en-US" sz="1450" dirty="0"/>
          </a:p>
        </p:txBody>
      </p:sp>
      <p:sp>
        <p:nvSpPr>
          <p:cNvPr id="20" name="Text 18"/>
          <p:cNvSpPr/>
          <p:nvPr/>
        </p:nvSpPr>
        <p:spPr>
          <a:xfrm>
            <a:off x="914400" y="5266944"/>
            <a:ext cx="4937760" cy="77724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Agents approuvés/bloqués, utilisateurs Firebase validés, consentements consultables et révocables.</a:t>
            </a:r>
            <a:endParaRPr lang="en-US" sz="1150" dirty="0"/>
          </a:p>
        </p:txBody>
      </p:sp>
      <p:sp>
        <p:nvSpPr>
          <p:cNvPr id="21" name="Shape 19"/>
          <p:cNvSpPr/>
          <p:nvPr/>
        </p:nvSpPr>
        <p:spPr>
          <a:xfrm>
            <a:off x="6492240" y="4754880"/>
            <a:ext cx="5486400" cy="1371600"/>
          </a:xfrm>
          <a:prstGeom prst="roundRect">
            <a:avLst>
              <a:gd name="adj" fmla="val 6000"/>
            </a:avLst>
          </a:prstGeom>
          <a:solidFill>
            <a:srgbClr val="F3F6FA"/>
          </a:solidFill>
          <a:ln/>
        </p:spPr>
      </p:sp>
      <p:sp>
        <p:nvSpPr>
          <p:cNvPr id="22" name="Text 20"/>
          <p:cNvSpPr/>
          <p:nvPr/>
        </p:nvSpPr>
        <p:spPr>
          <a:xfrm>
            <a:off x="6766560" y="4919472"/>
            <a:ext cx="4937760" cy="32004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Threat intelligence</a:t>
            </a:r>
            <a:endParaRPr lang="en-US" sz="1450" dirty="0"/>
          </a:p>
        </p:txBody>
      </p:sp>
      <p:sp>
        <p:nvSpPr>
          <p:cNvPr id="23" name="Text 21"/>
          <p:cNvSpPr/>
          <p:nvPr/>
        </p:nvSpPr>
        <p:spPr>
          <a:xfrm>
            <a:off x="6766560" y="5266944"/>
            <a:ext cx="4937760" cy="77724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Vérification optionnelle des URL via Google Safe Browsing : URL confirmée = alerte élevée.</a:t>
            </a:r>
            <a:endParaRPr lang="en-US" sz="1150" dirty="0"/>
          </a:p>
        </p:txBody>
      </p:sp>
      <p:sp>
        <p:nvSpPr>
          <p:cNvPr id="25" name="Text 22"/>
          <p:cNvSpPr/>
          <p:nvPr/>
        </p:nvSpPr>
        <p:spPr>
          <a:xfrm>
            <a:off x="11503152" y="640080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E8862E"/>
                </a:solidFill>
                <a:latin typeface="Calibri" pitchFamily="34" charset="0"/>
                <a:ea typeface="Calibri" pitchFamily="34" charset="-122"/>
                <a:cs typeface="Calibri" pitchFamily="34" charset="-120"/>
              </a:rPr>
              <a:t>ÉVALUATION</a:t>
            </a:r>
            <a:endParaRPr lang="en-US" sz="11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Des résultats mesurés et reproductibles</a:t>
            </a:r>
            <a:endParaRPr lang="en-US" sz="3200" dirty="0"/>
          </a:p>
        </p:txBody>
      </p:sp>
      <p:sp>
        <p:nvSpPr>
          <p:cNvPr id="4" name="Text 2"/>
          <p:cNvSpPr/>
          <p:nvPr/>
        </p:nvSpPr>
        <p:spPr>
          <a:xfrm>
            <a:off x="640080" y="1691640"/>
            <a:ext cx="2377440" cy="731520"/>
          </a:xfrm>
          <a:prstGeom prst="rect">
            <a:avLst/>
          </a:prstGeom>
          <a:noFill/>
          <a:ln/>
        </p:spPr>
        <p:txBody>
          <a:bodyPr wrap="square" lIns="0" tIns="0" rIns="0" bIns="0" rtlCol="0" anchor="ctr"/>
          <a:lstStyle/>
          <a:p>
            <a:pPr indent="0" marL="0">
              <a:buNone/>
            </a:pPr>
            <a:r>
              <a:rPr lang="en-US" sz="4000" b="1" dirty="0">
                <a:solidFill>
                  <a:srgbClr val="0E2A47"/>
                </a:solidFill>
                <a:latin typeface="Cambria" pitchFamily="34" charset="0"/>
                <a:ea typeface="Cambria" pitchFamily="34" charset="-122"/>
                <a:cs typeface="Cambria" pitchFamily="34" charset="-120"/>
              </a:rPr>
              <a:t>96,2 %</a:t>
            </a:r>
            <a:endParaRPr lang="en-US" sz="4000" dirty="0"/>
          </a:p>
        </p:txBody>
      </p:sp>
      <p:sp>
        <p:nvSpPr>
          <p:cNvPr id="5" name="Text 3"/>
          <p:cNvSpPr/>
          <p:nvPr/>
        </p:nvSpPr>
        <p:spPr>
          <a:xfrm>
            <a:off x="3017520" y="1892808"/>
            <a:ext cx="2926080" cy="457200"/>
          </a:xfrm>
          <a:prstGeom prst="rect">
            <a:avLst/>
          </a:prstGeom>
          <a:noFill/>
          <a:ln/>
        </p:spPr>
        <p:txBody>
          <a:bodyPr wrap="square" lIns="0" tIns="0" rIns="0" bIns="0" rtlCol="0" anchor="ctr"/>
          <a:lstStyle/>
          <a:p>
            <a:pPr indent="0" marL="0">
              <a:buNone/>
            </a:pPr>
            <a:r>
              <a:rPr lang="en-US" sz="1300" dirty="0">
                <a:solidFill>
                  <a:srgbClr val="5B6B7C"/>
                </a:solidFill>
                <a:latin typeface="Calibri" pitchFamily="34" charset="0"/>
                <a:ea typeface="Calibri" pitchFamily="34" charset="-122"/>
                <a:cs typeface="Calibri" pitchFamily="34" charset="-120"/>
              </a:rPr>
              <a:t>Rappel (taux de détection)</a:t>
            </a:r>
            <a:endParaRPr lang="en-US" sz="1300" dirty="0"/>
          </a:p>
        </p:txBody>
      </p:sp>
      <p:sp>
        <p:nvSpPr>
          <p:cNvPr id="6" name="Text 4"/>
          <p:cNvSpPr/>
          <p:nvPr/>
        </p:nvSpPr>
        <p:spPr>
          <a:xfrm>
            <a:off x="640080" y="2743200"/>
            <a:ext cx="2377440" cy="731520"/>
          </a:xfrm>
          <a:prstGeom prst="rect">
            <a:avLst/>
          </a:prstGeom>
          <a:noFill/>
          <a:ln/>
        </p:spPr>
        <p:txBody>
          <a:bodyPr wrap="square" lIns="0" tIns="0" rIns="0" bIns="0" rtlCol="0" anchor="ctr"/>
          <a:lstStyle/>
          <a:p>
            <a:pPr indent="0" marL="0">
              <a:buNone/>
            </a:pPr>
            <a:r>
              <a:rPr lang="en-US" sz="4000" b="1" dirty="0">
                <a:solidFill>
                  <a:srgbClr val="2E8C7F"/>
                </a:solidFill>
                <a:latin typeface="Cambria" pitchFamily="34" charset="0"/>
                <a:ea typeface="Cambria" pitchFamily="34" charset="-122"/>
                <a:cs typeface="Cambria" pitchFamily="34" charset="-120"/>
              </a:rPr>
              <a:t>100 %</a:t>
            </a:r>
            <a:endParaRPr lang="en-US" sz="4000" dirty="0"/>
          </a:p>
        </p:txBody>
      </p:sp>
      <p:sp>
        <p:nvSpPr>
          <p:cNvPr id="7" name="Text 5"/>
          <p:cNvSpPr/>
          <p:nvPr/>
        </p:nvSpPr>
        <p:spPr>
          <a:xfrm>
            <a:off x="3017520" y="2944368"/>
            <a:ext cx="2926080" cy="457200"/>
          </a:xfrm>
          <a:prstGeom prst="rect">
            <a:avLst/>
          </a:prstGeom>
          <a:noFill/>
          <a:ln/>
        </p:spPr>
        <p:txBody>
          <a:bodyPr wrap="square" lIns="0" tIns="0" rIns="0" bIns="0" rtlCol="0" anchor="ctr"/>
          <a:lstStyle/>
          <a:p>
            <a:pPr indent="0" marL="0">
              <a:buNone/>
            </a:pPr>
            <a:r>
              <a:rPr lang="en-US" sz="1300" dirty="0">
                <a:solidFill>
                  <a:srgbClr val="5B6B7C"/>
                </a:solidFill>
                <a:latin typeface="Calibri" pitchFamily="34" charset="0"/>
                <a:ea typeface="Calibri" pitchFamily="34" charset="-122"/>
                <a:cs typeface="Calibri" pitchFamily="34" charset="-120"/>
              </a:rPr>
              <a:t>Précision</a:t>
            </a:r>
            <a:endParaRPr lang="en-US" sz="1300" dirty="0"/>
          </a:p>
        </p:txBody>
      </p:sp>
      <p:sp>
        <p:nvSpPr>
          <p:cNvPr id="8" name="Text 6"/>
          <p:cNvSpPr/>
          <p:nvPr/>
        </p:nvSpPr>
        <p:spPr>
          <a:xfrm>
            <a:off x="640080" y="3794760"/>
            <a:ext cx="2377440" cy="731520"/>
          </a:xfrm>
          <a:prstGeom prst="rect">
            <a:avLst/>
          </a:prstGeom>
          <a:noFill/>
          <a:ln/>
        </p:spPr>
        <p:txBody>
          <a:bodyPr wrap="square" lIns="0" tIns="0" rIns="0" bIns="0" rtlCol="0" anchor="ctr"/>
          <a:lstStyle/>
          <a:p>
            <a:pPr indent="0" marL="0">
              <a:buNone/>
            </a:pPr>
            <a:r>
              <a:rPr lang="en-US" sz="4000" b="1" dirty="0">
                <a:solidFill>
                  <a:srgbClr val="2E8C7F"/>
                </a:solidFill>
                <a:latin typeface="Cambria" pitchFamily="34" charset="0"/>
                <a:ea typeface="Cambria" pitchFamily="34" charset="-122"/>
                <a:cs typeface="Cambria" pitchFamily="34" charset="-120"/>
              </a:rPr>
              <a:t>0 %</a:t>
            </a:r>
            <a:endParaRPr lang="en-US" sz="4000" dirty="0"/>
          </a:p>
        </p:txBody>
      </p:sp>
      <p:sp>
        <p:nvSpPr>
          <p:cNvPr id="9" name="Text 7"/>
          <p:cNvSpPr/>
          <p:nvPr/>
        </p:nvSpPr>
        <p:spPr>
          <a:xfrm>
            <a:off x="3017520" y="3995928"/>
            <a:ext cx="2926080" cy="457200"/>
          </a:xfrm>
          <a:prstGeom prst="rect">
            <a:avLst/>
          </a:prstGeom>
          <a:noFill/>
          <a:ln/>
        </p:spPr>
        <p:txBody>
          <a:bodyPr wrap="square" lIns="0" tIns="0" rIns="0" bIns="0" rtlCol="0" anchor="ctr"/>
          <a:lstStyle/>
          <a:p>
            <a:pPr indent="0" marL="0">
              <a:buNone/>
            </a:pPr>
            <a:r>
              <a:rPr lang="en-US" sz="1300" dirty="0">
                <a:solidFill>
                  <a:srgbClr val="5B6B7C"/>
                </a:solidFill>
                <a:latin typeface="Calibri" pitchFamily="34" charset="0"/>
                <a:ea typeface="Calibri" pitchFamily="34" charset="-122"/>
                <a:cs typeface="Calibri" pitchFamily="34" charset="-120"/>
              </a:rPr>
              <a:t>Faux positifs</a:t>
            </a:r>
            <a:endParaRPr lang="en-US" sz="1300" dirty="0"/>
          </a:p>
        </p:txBody>
      </p:sp>
      <p:sp>
        <p:nvSpPr>
          <p:cNvPr id="10" name="Text 8"/>
          <p:cNvSpPr/>
          <p:nvPr/>
        </p:nvSpPr>
        <p:spPr>
          <a:xfrm>
            <a:off x="640080" y="4846320"/>
            <a:ext cx="2377440" cy="731520"/>
          </a:xfrm>
          <a:prstGeom prst="rect">
            <a:avLst/>
          </a:prstGeom>
          <a:noFill/>
          <a:ln/>
        </p:spPr>
        <p:txBody>
          <a:bodyPr wrap="square" lIns="0" tIns="0" rIns="0" bIns="0" rtlCol="0" anchor="ctr"/>
          <a:lstStyle/>
          <a:p>
            <a:pPr indent="0" marL="0">
              <a:buNone/>
            </a:pPr>
            <a:r>
              <a:rPr lang="en-US" sz="4000" b="1" dirty="0">
                <a:solidFill>
                  <a:srgbClr val="E8862E"/>
                </a:solidFill>
                <a:latin typeface="Cambria" pitchFamily="34" charset="0"/>
                <a:ea typeface="Cambria" pitchFamily="34" charset="-122"/>
                <a:cs typeface="Cambria" pitchFamily="34" charset="-120"/>
              </a:rPr>
              <a:t>98,0 %</a:t>
            </a:r>
            <a:endParaRPr lang="en-US" sz="4000" dirty="0"/>
          </a:p>
        </p:txBody>
      </p:sp>
      <p:sp>
        <p:nvSpPr>
          <p:cNvPr id="11" name="Text 9"/>
          <p:cNvSpPr/>
          <p:nvPr/>
        </p:nvSpPr>
        <p:spPr>
          <a:xfrm>
            <a:off x="3017520" y="5047488"/>
            <a:ext cx="2926080" cy="457200"/>
          </a:xfrm>
          <a:prstGeom prst="rect">
            <a:avLst/>
          </a:prstGeom>
          <a:noFill/>
          <a:ln/>
        </p:spPr>
        <p:txBody>
          <a:bodyPr wrap="square" lIns="0" tIns="0" rIns="0" bIns="0" rtlCol="0" anchor="ctr"/>
          <a:lstStyle/>
          <a:p>
            <a:pPr indent="0" marL="0">
              <a:buNone/>
            </a:pPr>
            <a:r>
              <a:rPr lang="en-US" sz="1300" dirty="0">
                <a:solidFill>
                  <a:srgbClr val="5B6B7C"/>
                </a:solidFill>
                <a:latin typeface="Calibri" pitchFamily="34" charset="0"/>
                <a:ea typeface="Calibri" pitchFamily="34" charset="-122"/>
                <a:cs typeface="Calibri" pitchFamily="34" charset="-120"/>
              </a:rPr>
              <a:t>F1-score</a:t>
            </a:r>
            <a:endParaRPr lang="en-US" sz="1300" dirty="0"/>
          </a:p>
        </p:txBody>
      </p:sp>
      <p:sp>
        <p:nvSpPr>
          <p:cNvPr id="12" name="Text 10"/>
          <p:cNvSpPr/>
          <p:nvPr/>
        </p:nvSpPr>
        <p:spPr>
          <a:xfrm>
            <a:off x="6400800" y="1737360"/>
            <a:ext cx="5120640" cy="502920"/>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Matrice de confusion — 48 messages étiquetés (26 fraudes, 22 légitimes), contexte RDC</a:t>
            </a:r>
            <a:endParaRPr lang="en-US" sz="1250" dirty="0"/>
          </a:p>
        </p:txBody>
      </p:sp>
      <p:sp>
        <p:nvSpPr>
          <p:cNvPr id="13" name="Shape 11"/>
          <p:cNvSpPr/>
          <p:nvPr/>
        </p:nvSpPr>
        <p:spPr>
          <a:xfrm>
            <a:off x="6400800" y="2423160"/>
            <a:ext cx="1691640" cy="502920"/>
          </a:xfrm>
          <a:prstGeom prst="rect">
            <a:avLst/>
          </a:prstGeom>
          <a:solidFill>
            <a:srgbClr val="F3F6FA"/>
          </a:solidFill>
          <a:ln w="12700">
            <a:solidFill>
              <a:srgbClr val="D5DEE8"/>
            </a:solidFill>
            <a:prstDash val="solid"/>
          </a:ln>
        </p:spPr>
      </p:sp>
      <p:sp>
        <p:nvSpPr>
          <p:cNvPr id="14" name="Text 12"/>
          <p:cNvSpPr/>
          <p:nvPr/>
        </p:nvSpPr>
        <p:spPr>
          <a:xfrm>
            <a:off x="6400800" y="2423160"/>
            <a:ext cx="1691640" cy="502920"/>
          </a:xfrm>
          <a:prstGeom prst="rect">
            <a:avLst/>
          </a:prstGeom>
          <a:noFill/>
          <a:ln/>
        </p:spPr>
        <p:txBody>
          <a:bodyPr wrap="square" lIns="0" tIns="0" rIns="0" bIns="0" rtlCol="0" anchor="ctr"/>
          <a:lstStyle/>
          <a:p>
            <a:pPr algn="ctr" indent="0" marL="0">
              <a:buNone/>
            </a:pPr>
            <a:endParaRPr lang="en-US" sz="1050" dirty="0"/>
          </a:p>
        </p:txBody>
      </p:sp>
      <p:sp>
        <p:nvSpPr>
          <p:cNvPr id="15" name="Shape 13"/>
          <p:cNvSpPr/>
          <p:nvPr/>
        </p:nvSpPr>
        <p:spPr>
          <a:xfrm>
            <a:off x="8092440" y="2423160"/>
            <a:ext cx="1691640" cy="502920"/>
          </a:xfrm>
          <a:prstGeom prst="rect">
            <a:avLst/>
          </a:prstGeom>
          <a:solidFill>
            <a:srgbClr val="F3F6FA"/>
          </a:solidFill>
          <a:ln w="12700">
            <a:solidFill>
              <a:srgbClr val="D5DEE8"/>
            </a:solidFill>
            <a:prstDash val="solid"/>
          </a:ln>
        </p:spPr>
      </p:sp>
      <p:sp>
        <p:nvSpPr>
          <p:cNvPr id="16" name="Text 14"/>
          <p:cNvSpPr/>
          <p:nvPr/>
        </p:nvSpPr>
        <p:spPr>
          <a:xfrm>
            <a:off x="8092440" y="2423160"/>
            <a:ext cx="1691640" cy="502920"/>
          </a:xfrm>
          <a:prstGeom prst="rect">
            <a:avLst/>
          </a:prstGeom>
          <a:noFill/>
          <a:ln/>
        </p:spPr>
        <p:txBody>
          <a:bodyPr wrap="square" lIns="0" tIns="0" rIns="0" bIns="0" rtlCol="0" anchor="ctr"/>
          <a:lstStyle/>
          <a:p>
            <a:pPr algn="ctr" indent="0" marL="0">
              <a:buNone/>
            </a:pPr>
            <a:r>
              <a:rPr lang="en-US" sz="1050" b="1" dirty="0">
                <a:solidFill>
                  <a:srgbClr val="1B2A3A"/>
                </a:solidFill>
                <a:latin typeface="Calibri" pitchFamily="34" charset="0"/>
                <a:ea typeface="Calibri" pitchFamily="34" charset="-122"/>
                <a:cs typeface="Calibri" pitchFamily="34" charset="-120"/>
              </a:rPr>
              <a:t>Prédit fraude</a:t>
            </a:r>
            <a:endParaRPr lang="en-US" sz="1050" dirty="0"/>
          </a:p>
        </p:txBody>
      </p:sp>
      <p:sp>
        <p:nvSpPr>
          <p:cNvPr id="17" name="Shape 15"/>
          <p:cNvSpPr/>
          <p:nvPr/>
        </p:nvSpPr>
        <p:spPr>
          <a:xfrm>
            <a:off x="9784080" y="2423160"/>
            <a:ext cx="1691640" cy="502920"/>
          </a:xfrm>
          <a:prstGeom prst="rect">
            <a:avLst/>
          </a:prstGeom>
          <a:solidFill>
            <a:srgbClr val="F3F6FA"/>
          </a:solidFill>
          <a:ln w="12700">
            <a:solidFill>
              <a:srgbClr val="D5DEE8"/>
            </a:solidFill>
            <a:prstDash val="solid"/>
          </a:ln>
        </p:spPr>
      </p:sp>
      <p:sp>
        <p:nvSpPr>
          <p:cNvPr id="18" name="Text 16"/>
          <p:cNvSpPr/>
          <p:nvPr/>
        </p:nvSpPr>
        <p:spPr>
          <a:xfrm>
            <a:off x="9784080" y="2423160"/>
            <a:ext cx="1691640" cy="502920"/>
          </a:xfrm>
          <a:prstGeom prst="rect">
            <a:avLst/>
          </a:prstGeom>
          <a:noFill/>
          <a:ln/>
        </p:spPr>
        <p:txBody>
          <a:bodyPr wrap="square" lIns="0" tIns="0" rIns="0" bIns="0" rtlCol="0" anchor="ctr"/>
          <a:lstStyle/>
          <a:p>
            <a:pPr algn="ctr" indent="0" marL="0">
              <a:buNone/>
            </a:pPr>
            <a:r>
              <a:rPr lang="en-US" sz="1050" b="1" dirty="0">
                <a:solidFill>
                  <a:srgbClr val="1B2A3A"/>
                </a:solidFill>
                <a:latin typeface="Calibri" pitchFamily="34" charset="0"/>
                <a:ea typeface="Calibri" pitchFamily="34" charset="-122"/>
                <a:cs typeface="Calibri" pitchFamily="34" charset="-120"/>
              </a:rPr>
              <a:t>Prédit légitime</a:t>
            </a:r>
            <a:endParaRPr lang="en-US" sz="1050" dirty="0"/>
          </a:p>
        </p:txBody>
      </p:sp>
      <p:sp>
        <p:nvSpPr>
          <p:cNvPr id="19" name="Shape 17"/>
          <p:cNvSpPr/>
          <p:nvPr/>
        </p:nvSpPr>
        <p:spPr>
          <a:xfrm>
            <a:off x="6400800" y="2926080"/>
            <a:ext cx="1691640" cy="914400"/>
          </a:xfrm>
          <a:prstGeom prst="rect">
            <a:avLst/>
          </a:prstGeom>
          <a:solidFill>
            <a:srgbClr val="F3F6FA"/>
          </a:solidFill>
          <a:ln w="12700">
            <a:solidFill>
              <a:srgbClr val="D5DEE8"/>
            </a:solidFill>
            <a:prstDash val="solid"/>
          </a:ln>
        </p:spPr>
      </p:sp>
      <p:sp>
        <p:nvSpPr>
          <p:cNvPr id="20" name="Text 18"/>
          <p:cNvSpPr/>
          <p:nvPr/>
        </p:nvSpPr>
        <p:spPr>
          <a:xfrm>
            <a:off x="6400800" y="2926080"/>
            <a:ext cx="1691640" cy="914400"/>
          </a:xfrm>
          <a:prstGeom prst="rect">
            <a:avLst/>
          </a:prstGeom>
          <a:noFill/>
          <a:ln/>
        </p:spPr>
        <p:txBody>
          <a:bodyPr wrap="square" lIns="0" tIns="0" rIns="0" bIns="0" rtlCol="0" anchor="ctr"/>
          <a:lstStyle/>
          <a:p>
            <a:pPr algn="ctr" indent="0" marL="0">
              <a:buNone/>
            </a:pPr>
            <a:r>
              <a:rPr lang="en-US" sz="1050" b="1" dirty="0">
                <a:solidFill>
                  <a:srgbClr val="1B2A3A"/>
                </a:solidFill>
                <a:latin typeface="Calibri" pitchFamily="34" charset="0"/>
                <a:ea typeface="Calibri" pitchFamily="34" charset="-122"/>
                <a:cs typeface="Calibri" pitchFamily="34" charset="-120"/>
              </a:rPr>
              <a:t>Réel fraude</a:t>
            </a:r>
            <a:endParaRPr lang="en-US" sz="1050" dirty="0"/>
          </a:p>
        </p:txBody>
      </p:sp>
      <p:sp>
        <p:nvSpPr>
          <p:cNvPr id="21" name="Shape 19"/>
          <p:cNvSpPr/>
          <p:nvPr/>
        </p:nvSpPr>
        <p:spPr>
          <a:xfrm>
            <a:off x="8092440" y="2926080"/>
            <a:ext cx="1691640" cy="914400"/>
          </a:xfrm>
          <a:prstGeom prst="rect">
            <a:avLst/>
          </a:prstGeom>
          <a:solidFill>
            <a:srgbClr val="2E8C7F"/>
          </a:solidFill>
          <a:ln w="12700">
            <a:solidFill>
              <a:srgbClr val="D5DEE8"/>
            </a:solidFill>
            <a:prstDash val="solid"/>
          </a:ln>
        </p:spPr>
      </p:sp>
      <p:sp>
        <p:nvSpPr>
          <p:cNvPr id="22" name="Text 20"/>
          <p:cNvSpPr/>
          <p:nvPr/>
        </p:nvSpPr>
        <p:spPr>
          <a:xfrm>
            <a:off x="8092440" y="2926080"/>
            <a:ext cx="16916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25 VP</a:t>
            </a:r>
            <a:endParaRPr lang="en-US" sz="1600" dirty="0"/>
          </a:p>
        </p:txBody>
      </p:sp>
      <p:sp>
        <p:nvSpPr>
          <p:cNvPr id="23" name="Shape 21"/>
          <p:cNvSpPr/>
          <p:nvPr/>
        </p:nvSpPr>
        <p:spPr>
          <a:xfrm>
            <a:off x="9784080" y="2926080"/>
            <a:ext cx="1691640" cy="914400"/>
          </a:xfrm>
          <a:prstGeom prst="rect">
            <a:avLst/>
          </a:prstGeom>
          <a:solidFill>
            <a:srgbClr val="F6C6A8"/>
          </a:solidFill>
          <a:ln w="12700">
            <a:solidFill>
              <a:srgbClr val="D5DEE8"/>
            </a:solidFill>
            <a:prstDash val="solid"/>
          </a:ln>
        </p:spPr>
      </p:sp>
      <p:sp>
        <p:nvSpPr>
          <p:cNvPr id="24" name="Text 22"/>
          <p:cNvSpPr/>
          <p:nvPr/>
        </p:nvSpPr>
        <p:spPr>
          <a:xfrm>
            <a:off x="9784080" y="2926080"/>
            <a:ext cx="1691640" cy="914400"/>
          </a:xfrm>
          <a:prstGeom prst="rect">
            <a:avLst/>
          </a:prstGeom>
          <a:noFill/>
          <a:ln/>
        </p:spPr>
        <p:txBody>
          <a:bodyPr wrap="square" lIns="0" tIns="0" rIns="0" bIns="0" rtlCol="0" anchor="ctr"/>
          <a:lstStyle/>
          <a:p>
            <a:pPr algn="ctr" indent="0" marL="0">
              <a:buNone/>
            </a:pPr>
            <a:r>
              <a:rPr lang="en-US" sz="1600" b="1" dirty="0">
                <a:solidFill>
                  <a:srgbClr val="1B2A3A"/>
                </a:solidFill>
                <a:latin typeface="Calibri" pitchFamily="34" charset="0"/>
                <a:ea typeface="Calibri" pitchFamily="34" charset="-122"/>
                <a:cs typeface="Calibri" pitchFamily="34" charset="-120"/>
              </a:rPr>
              <a:t>1 FN</a:t>
            </a:r>
            <a:endParaRPr lang="en-US" sz="1600" dirty="0"/>
          </a:p>
        </p:txBody>
      </p:sp>
      <p:sp>
        <p:nvSpPr>
          <p:cNvPr id="25" name="Shape 23"/>
          <p:cNvSpPr/>
          <p:nvPr/>
        </p:nvSpPr>
        <p:spPr>
          <a:xfrm>
            <a:off x="6400800" y="3840480"/>
            <a:ext cx="1691640" cy="914400"/>
          </a:xfrm>
          <a:prstGeom prst="rect">
            <a:avLst/>
          </a:prstGeom>
          <a:solidFill>
            <a:srgbClr val="F3F6FA"/>
          </a:solidFill>
          <a:ln w="12700">
            <a:solidFill>
              <a:srgbClr val="D5DEE8"/>
            </a:solidFill>
            <a:prstDash val="solid"/>
          </a:ln>
        </p:spPr>
      </p:sp>
      <p:sp>
        <p:nvSpPr>
          <p:cNvPr id="26" name="Text 24"/>
          <p:cNvSpPr/>
          <p:nvPr/>
        </p:nvSpPr>
        <p:spPr>
          <a:xfrm>
            <a:off x="6400800" y="3840480"/>
            <a:ext cx="1691640" cy="914400"/>
          </a:xfrm>
          <a:prstGeom prst="rect">
            <a:avLst/>
          </a:prstGeom>
          <a:noFill/>
          <a:ln/>
        </p:spPr>
        <p:txBody>
          <a:bodyPr wrap="square" lIns="0" tIns="0" rIns="0" bIns="0" rtlCol="0" anchor="ctr"/>
          <a:lstStyle/>
          <a:p>
            <a:pPr algn="ctr" indent="0" marL="0">
              <a:buNone/>
            </a:pPr>
            <a:r>
              <a:rPr lang="en-US" sz="1050" b="1" dirty="0">
                <a:solidFill>
                  <a:srgbClr val="1B2A3A"/>
                </a:solidFill>
                <a:latin typeface="Calibri" pitchFamily="34" charset="0"/>
                <a:ea typeface="Calibri" pitchFamily="34" charset="-122"/>
                <a:cs typeface="Calibri" pitchFamily="34" charset="-120"/>
              </a:rPr>
              <a:t>Réel légitime</a:t>
            </a:r>
            <a:endParaRPr lang="en-US" sz="1050" dirty="0"/>
          </a:p>
        </p:txBody>
      </p:sp>
      <p:sp>
        <p:nvSpPr>
          <p:cNvPr id="27" name="Shape 25"/>
          <p:cNvSpPr/>
          <p:nvPr/>
        </p:nvSpPr>
        <p:spPr>
          <a:xfrm>
            <a:off x="8092440" y="3840480"/>
            <a:ext cx="1691640" cy="914400"/>
          </a:xfrm>
          <a:prstGeom prst="rect">
            <a:avLst/>
          </a:prstGeom>
          <a:solidFill>
            <a:srgbClr val="F3F6FA"/>
          </a:solidFill>
          <a:ln w="12700">
            <a:solidFill>
              <a:srgbClr val="D5DEE8"/>
            </a:solidFill>
            <a:prstDash val="solid"/>
          </a:ln>
        </p:spPr>
      </p:sp>
      <p:sp>
        <p:nvSpPr>
          <p:cNvPr id="28" name="Text 26"/>
          <p:cNvSpPr/>
          <p:nvPr/>
        </p:nvSpPr>
        <p:spPr>
          <a:xfrm>
            <a:off x="8092440" y="3840480"/>
            <a:ext cx="1691640"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0 FP</a:t>
            </a:r>
            <a:endParaRPr lang="en-US" sz="1600" dirty="0"/>
          </a:p>
        </p:txBody>
      </p:sp>
      <p:sp>
        <p:nvSpPr>
          <p:cNvPr id="29" name="Shape 27"/>
          <p:cNvSpPr/>
          <p:nvPr/>
        </p:nvSpPr>
        <p:spPr>
          <a:xfrm>
            <a:off x="9784080" y="3840480"/>
            <a:ext cx="1691640" cy="914400"/>
          </a:xfrm>
          <a:prstGeom prst="rect">
            <a:avLst/>
          </a:prstGeom>
          <a:solidFill>
            <a:srgbClr val="2E8C7F"/>
          </a:solidFill>
          <a:ln w="12700">
            <a:solidFill>
              <a:srgbClr val="D5DEE8"/>
            </a:solidFill>
            <a:prstDash val="solid"/>
          </a:ln>
        </p:spPr>
      </p:sp>
      <p:sp>
        <p:nvSpPr>
          <p:cNvPr id="30" name="Text 28"/>
          <p:cNvSpPr/>
          <p:nvPr/>
        </p:nvSpPr>
        <p:spPr>
          <a:xfrm>
            <a:off x="9784080" y="3840480"/>
            <a:ext cx="169164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22 VN</a:t>
            </a:r>
            <a:endParaRPr lang="en-US" sz="1600" dirty="0"/>
          </a:p>
        </p:txBody>
      </p:sp>
      <p:sp>
        <p:nvSpPr>
          <p:cNvPr id="31" name="Shape 29"/>
          <p:cNvSpPr/>
          <p:nvPr/>
        </p:nvSpPr>
        <p:spPr>
          <a:xfrm>
            <a:off x="6400800" y="5074920"/>
            <a:ext cx="5120640" cy="1051560"/>
          </a:xfrm>
          <a:prstGeom prst="roundRect">
            <a:avLst>
              <a:gd name="adj" fmla="val 7826"/>
            </a:avLst>
          </a:prstGeom>
          <a:solidFill>
            <a:srgbClr val="FDF1E3"/>
          </a:solidFill>
          <a:ln/>
        </p:spPr>
      </p:sp>
      <p:sp>
        <p:nvSpPr>
          <p:cNvPr id="32" name="Text 30"/>
          <p:cNvSpPr/>
          <p:nvPr/>
        </p:nvSpPr>
        <p:spPr>
          <a:xfrm>
            <a:off x="6629400" y="5193792"/>
            <a:ext cx="4709160" cy="868680"/>
          </a:xfrm>
          <a:prstGeom prst="rect">
            <a:avLst/>
          </a:prstGeom>
          <a:noFill/>
          <a:ln/>
        </p:spPr>
        <p:txBody>
          <a:bodyPr wrap="square" lIns="0" tIns="0" rIns="0" bIns="0" rtlCol="0" anchor="ctr"/>
          <a:lstStyle/>
          <a:p>
            <a:pPr indent="0" marL="0">
              <a:buNone/>
            </a:pPr>
            <a:r>
              <a:rPr lang="en-US" sz="1150" b="1" dirty="0">
                <a:solidFill>
                  <a:srgbClr val="1B2A3A"/>
                </a:solidFill>
                <a:latin typeface="Calibri" pitchFamily="34" charset="0"/>
                <a:ea typeface="Calibri" pitchFamily="34" charset="-122"/>
                <a:cs typeface="Calibri" pitchFamily="34" charset="-120"/>
              </a:rPr>
              <a:t>Analyse critique — 1 seul faux négatif : </a:t>
            </a:r>
            <a:pPr indent="0" marL="0">
              <a:buNone/>
            </a:pPr>
            <a:r>
              <a:rPr lang="en-US" sz="1150" dirty="0">
                <a:solidFill>
                  <a:srgbClr val="1B2A3A"/>
                </a:solidFill>
                <a:latin typeface="Calibri" pitchFamily="34" charset="0"/>
                <a:ea typeface="Calibri" pitchFamily="34" charset="-122"/>
                <a:cs typeface="Calibri" pitchFamily="34" charset="-120"/>
              </a:rPr>
              <a:t>« envoyez 10$, recevez 500$ » sans lien ni urgence. Corrigé depuis par la règle « promesse de multiplication d'argent ».</a:t>
            </a:r>
            <a:endParaRPr lang="en-US" sz="1150" dirty="0"/>
          </a:p>
        </p:txBody>
      </p:sp>
      <p:sp>
        <p:nvSpPr>
          <p:cNvPr id="34" name="Text 31"/>
          <p:cNvSpPr/>
          <p:nvPr/>
        </p:nvSpPr>
        <p:spPr>
          <a:xfrm>
            <a:off x="11503152" y="640080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E8862E"/>
                </a:solidFill>
                <a:latin typeface="Calibri" pitchFamily="34" charset="0"/>
                <a:ea typeface="Calibri" pitchFamily="34" charset="-122"/>
                <a:cs typeface="Calibri" pitchFamily="34" charset="-120"/>
              </a:rPr>
              <a:t>CADRE DE CONFIANCE</a:t>
            </a:r>
            <a:endParaRPr lang="en-US" sz="11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Éthique et fiabilité</a:t>
            </a:r>
            <a:endParaRPr lang="en-US" sz="3200" dirty="0"/>
          </a:p>
        </p:txBody>
      </p:sp>
      <p:sp>
        <p:nvSpPr>
          <p:cNvPr id="4" name="Shape 2"/>
          <p:cNvSpPr/>
          <p:nvPr/>
        </p:nvSpPr>
        <p:spPr>
          <a:xfrm>
            <a:off x="640080" y="1737360"/>
            <a:ext cx="5440680" cy="4297680"/>
          </a:xfrm>
          <a:prstGeom prst="roundRect">
            <a:avLst>
              <a:gd name="adj" fmla="val 2128"/>
            </a:avLst>
          </a:prstGeom>
          <a:solidFill>
            <a:srgbClr val="F3F6FA"/>
          </a:solidFill>
          <a:ln/>
        </p:spPr>
      </p:sp>
      <p:sp>
        <p:nvSpPr>
          <p:cNvPr id="5" name="Text 3"/>
          <p:cNvSpPr/>
          <p:nvPr/>
        </p:nvSpPr>
        <p:spPr>
          <a:xfrm>
            <a:off x="1005840" y="2011680"/>
            <a:ext cx="4754880" cy="365760"/>
          </a:xfrm>
          <a:prstGeom prst="rect">
            <a:avLst/>
          </a:prstGeom>
          <a:noFill/>
          <a:ln/>
        </p:spPr>
        <p:txBody>
          <a:bodyPr wrap="square" lIns="0" tIns="0" rIns="0" bIns="0" rtlCol="0" anchor="ctr"/>
          <a:lstStyle/>
          <a:p>
            <a:pPr indent="0" marL="0">
              <a:buNone/>
            </a:pPr>
            <a:r>
              <a:rPr lang="en-US" sz="1800" b="1" dirty="0">
                <a:solidFill>
                  <a:srgbClr val="C0442C"/>
                </a:solidFill>
                <a:latin typeface="Calibri" pitchFamily="34" charset="0"/>
                <a:ea typeface="Calibri" pitchFamily="34" charset="-122"/>
                <a:cs typeface="Calibri" pitchFamily="34" charset="-120"/>
              </a:rPr>
              <a:t>Éthique : rien sans consentement</a:t>
            </a:r>
            <a:endParaRPr lang="en-US" sz="1800" dirty="0"/>
          </a:p>
        </p:txBody>
      </p:sp>
      <p:sp>
        <p:nvSpPr>
          <p:cNvPr id="6" name="Text 4"/>
          <p:cNvSpPr/>
          <p:nvPr/>
        </p:nvSpPr>
        <p:spPr>
          <a:xfrm>
            <a:off x="1005840" y="2514600"/>
            <a:ext cx="4754880" cy="3291840"/>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1B2A3A"/>
                </a:solidFill>
                <a:latin typeface="Calibri" pitchFamily="34" charset="0"/>
                <a:ea typeface="Calibri" pitchFamily="34" charset="-122"/>
                <a:cs typeface="Calibri" pitchFamily="34" charset="-120"/>
              </a:rPr>
              <a:t>Formulaire public de consentement, enregistré et révocable à tout moment</a:t>
            </a:r>
            <a:endParaRPr lang="en-US" sz="1250" dirty="0"/>
          </a:p>
          <a:p>
            <a:pPr marL="177800" indent="-177800">
              <a:spcAft>
                <a:spcPts val="900"/>
              </a:spcAft>
              <a:buSzPct val="100000"/>
              <a:buChar char="▪"/>
            </a:pPr>
            <a:r>
              <a:rPr lang="en-US" sz="1250" dirty="0">
                <a:solidFill>
                  <a:srgbClr val="1B2A3A"/>
                </a:solidFill>
                <a:latin typeface="Calibri" pitchFamily="34" charset="0"/>
                <a:ea typeface="Calibri" pitchFamily="34" charset="-122"/>
                <a:cs typeface="Calibri" pitchFamily="34" charset="-120"/>
              </a:rPr>
              <a:t>Agents installés uniquement sur les propres appareils de l'utilisateur</a:t>
            </a:r>
            <a:endParaRPr lang="en-US" sz="1250" dirty="0"/>
          </a:p>
          <a:p>
            <a:pPr marL="177800" indent="-177800">
              <a:spcAft>
                <a:spcPts val="900"/>
              </a:spcAft>
              <a:buSzPct val="100000"/>
              <a:buChar char="▪"/>
            </a:pPr>
            <a:r>
              <a:rPr lang="en-US" sz="1250" dirty="0">
                <a:solidFill>
                  <a:srgbClr val="1B2A3A"/>
                </a:solidFill>
                <a:latin typeface="Calibri" pitchFamily="34" charset="0"/>
                <a:ea typeface="Calibri" pitchFamily="34" charset="-122"/>
                <a:cs typeface="Calibri" pitchFamily="34" charset="-120"/>
              </a:rPr>
              <a:t>Journal d'audit : chaque action administrateur est tracée</a:t>
            </a:r>
            <a:endParaRPr lang="en-US" sz="1250" dirty="0"/>
          </a:p>
          <a:p>
            <a:pPr marL="177800" indent="-177800">
              <a:spcAft>
                <a:spcPts val="900"/>
              </a:spcAft>
              <a:buSzPct val="100000"/>
              <a:buChar char="▪"/>
            </a:pPr>
            <a:r>
              <a:rPr lang="en-US" sz="1250" dirty="0">
                <a:solidFill>
                  <a:srgbClr val="1B2A3A"/>
                </a:solidFill>
                <a:latin typeface="Calibri" pitchFamily="34" charset="0"/>
                <a:ea typeface="Calibri" pitchFamily="34" charset="-122"/>
                <a:cs typeface="Calibri" pitchFamily="34" charset="-120"/>
              </a:rPr>
              <a:t>Aucune lecture de messages sans adhésion vérifiée sur /report</a:t>
            </a:r>
            <a:endParaRPr lang="en-US" sz="1250" dirty="0"/>
          </a:p>
        </p:txBody>
      </p:sp>
      <p:sp>
        <p:nvSpPr>
          <p:cNvPr id="7" name="Shape 5"/>
          <p:cNvSpPr/>
          <p:nvPr/>
        </p:nvSpPr>
        <p:spPr>
          <a:xfrm>
            <a:off x="6400800" y="1737360"/>
            <a:ext cx="5440680" cy="4297680"/>
          </a:xfrm>
          <a:prstGeom prst="roundRect">
            <a:avLst>
              <a:gd name="adj" fmla="val 2128"/>
            </a:avLst>
          </a:prstGeom>
          <a:solidFill>
            <a:srgbClr val="F3F6FA"/>
          </a:solidFill>
          <a:ln/>
        </p:spPr>
      </p:sp>
      <p:sp>
        <p:nvSpPr>
          <p:cNvPr id="8" name="Text 6"/>
          <p:cNvSpPr/>
          <p:nvPr/>
        </p:nvSpPr>
        <p:spPr>
          <a:xfrm>
            <a:off x="6766560" y="2011680"/>
            <a:ext cx="4754880" cy="365760"/>
          </a:xfrm>
          <a:prstGeom prst="rect">
            <a:avLst/>
          </a:prstGeom>
          <a:noFill/>
          <a:ln/>
        </p:spPr>
        <p:txBody>
          <a:bodyPr wrap="square" lIns="0" tIns="0" rIns="0" bIns="0" rtlCol="0" anchor="ctr"/>
          <a:lstStyle/>
          <a:p>
            <a:pPr indent="0" marL="0">
              <a:buNone/>
            </a:pPr>
            <a:r>
              <a:rPr lang="en-US" sz="1800" b="1" dirty="0">
                <a:solidFill>
                  <a:srgbClr val="2E8C7F"/>
                </a:solidFill>
                <a:latin typeface="Calibri" pitchFamily="34" charset="0"/>
                <a:ea typeface="Calibri" pitchFamily="34" charset="-122"/>
                <a:cs typeface="Calibri" pitchFamily="34" charset="-120"/>
              </a:rPr>
              <a:t>Fiabilité : prouvée par les tests</a:t>
            </a:r>
            <a:endParaRPr lang="en-US" sz="1800" dirty="0"/>
          </a:p>
        </p:txBody>
      </p:sp>
      <p:sp>
        <p:nvSpPr>
          <p:cNvPr id="9" name="Text 7"/>
          <p:cNvSpPr/>
          <p:nvPr/>
        </p:nvSpPr>
        <p:spPr>
          <a:xfrm>
            <a:off x="6766560" y="2514600"/>
            <a:ext cx="4754880" cy="3291840"/>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1B2A3A"/>
                </a:solidFill>
                <a:latin typeface="Calibri" pitchFamily="34" charset="0"/>
                <a:ea typeface="Calibri" pitchFamily="34" charset="-122"/>
                <a:cs typeface="Calibri" pitchFamily="34" charset="-120"/>
              </a:rPr>
              <a:t>58 tests pytest : scoring, 2FA, verrouillage, consentements, agents, API</a:t>
            </a:r>
            <a:endParaRPr lang="en-US" sz="1250" dirty="0"/>
          </a:p>
          <a:p>
            <a:pPr marL="177800" indent="-177800">
              <a:spcAft>
                <a:spcPts val="900"/>
              </a:spcAft>
              <a:buSzPct val="100000"/>
              <a:buChar char="▪"/>
            </a:pPr>
            <a:r>
              <a:rPr lang="en-US" sz="1250" dirty="0">
                <a:solidFill>
                  <a:srgbClr val="1B2A3A"/>
                </a:solidFill>
                <a:latin typeface="Calibri" pitchFamily="34" charset="0"/>
                <a:ea typeface="Calibri" pitchFamily="34" charset="-122"/>
                <a:cs typeface="Calibri" pitchFamily="34" charset="-120"/>
              </a:rPr>
              <a:t>Benchmark reproductible du moteur (dataset + script d'évaluation)</a:t>
            </a:r>
            <a:endParaRPr lang="en-US" sz="1250" dirty="0"/>
          </a:p>
          <a:p>
            <a:pPr marL="177800" indent="-177800">
              <a:spcAft>
                <a:spcPts val="900"/>
              </a:spcAft>
              <a:buSzPct val="100000"/>
              <a:buChar char="▪"/>
            </a:pPr>
            <a:r>
              <a:rPr lang="en-US" sz="1250" dirty="0">
                <a:solidFill>
                  <a:srgbClr val="1B2A3A"/>
                </a:solidFill>
                <a:latin typeface="Calibri" pitchFamily="34" charset="0"/>
                <a:ea typeface="Calibri" pitchFamily="34" charset="-122"/>
                <a:cs typeface="Calibri" pitchFamily="34" charset="-120"/>
              </a:rPr>
              <a:t>Sauvegarde JSON horodatée de la base (script dédié)</a:t>
            </a:r>
            <a:endParaRPr lang="en-US" sz="1250" dirty="0"/>
          </a:p>
          <a:p>
            <a:pPr marL="177800" indent="-177800">
              <a:spcAft>
                <a:spcPts val="900"/>
              </a:spcAft>
              <a:buSzPct val="100000"/>
              <a:buChar char="▪"/>
            </a:pPr>
            <a:r>
              <a:rPr lang="en-US" sz="1250" dirty="0">
                <a:solidFill>
                  <a:srgbClr val="1B2A3A"/>
                </a:solidFill>
                <a:latin typeface="Calibri" pitchFamily="34" charset="0"/>
                <a:ea typeface="Calibri" pitchFamily="34" charset="-122"/>
                <a:cs typeface="Calibri" pitchFamily="34" charset="-120"/>
              </a:rPr>
              <a:t>Clé Firebase exclue du dépôt ; secrets hors du code</a:t>
            </a:r>
            <a:endParaRPr lang="en-US" sz="1250" dirty="0"/>
          </a:p>
        </p:txBody>
      </p:sp>
      <p:sp>
        <p:nvSpPr>
          <p:cNvPr id="11" name="Text 8"/>
          <p:cNvSpPr/>
          <p:nvPr/>
        </p:nvSpPr>
        <p:spPr>
          <a:xfrm>
            <a:off x="11503152" y="640080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E8862E"/>
                </a:solidFill>
                <a:latin typeface="Calibri" pitchFamily="34" charset="0"/>
                <a:ea typeface="Calibri" pitchFamily="34" charset="-122"/>
                <a:cs typeface="Calibri" pitchFamily="34" charset="-120"/>
              </a:rPr>
              <a:t>DÉMONSTRATION</a:t>
            </a:r>
            <a:endParaRPr lang="en-US" sz="11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Démo en direct — le parcours d'une fraude</a:t>
            </a:r>
            <a:endParaRPr lang="en-US" sz="3200" dirty="0"/>
          </a:p>
        </p:txBody>
      </p:sp>
      <p:sp>
        <p:nvSpPr>
          <p:cNvPr id="4" name="Shape 2"/>
          <p:cNvSpPr/>
          <p:nvPr/>
        </p:nvSpPr>
        <p:spPr>
          <a:xfrm>
            <a:off x="640080" y="2103120"/>
            <a:ext cx="2606040" cy="2651760"/>
          </a:xfrm>
          <a:prstGeom prst="roundRect">
            <a:avLst>
              <a:gd name="adj" fmla="val 3509"/>
            </a:avLst>
          </a:prstGeom>
          <a:solidFill>
            <a:srgbClr val="F3F6FA"/>
          </a:solidFill>
          <a:ln/>
        </p:spPr>
      </p:sp>
      <p:sp>
        <p:nvSpPr>
          <p:cNvPr id="5" name="Shape 3"/>
          <p:cNvSpPr/>
          <p:nvPr/>
        </p:nvSpPr>
        <p:spPr>
          <a:xfrm>
            <a:off x="868680" y="2331720"/>
            <a:ext cx="502920" cy="502920"/>
          </a:xfrm>
          <a:prstGeom prst="ellipse">
            <a:avLst/>
          </a:prstGeom>
          <a:solidFill>
            <a:srgbClr val="E8862E"/>
          </a:solidFill>
          <a:ln/>
        </p:spPr>
      </p:sp>
      <p:sp>
        <p:nvSpPr>
          <p:cNvPr id="6" name="Text 4"/>
          <p:cNvSpPr/>
          <p:nvPr/>
        </p:nvSpPr>
        <p:spPr>
          <a:xfrm>
            <a:off x="868680" y="23134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868680" y="3017520"/>
            <a:ext cx="2148840" cy="594360"/>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SMS frauduleux</a:t>
            </a:r>
            <a:endParaRPr lang="en-US" sz="1450" dirty="0"/>
          </a:p>
        </p:txBody>
      </p:sp>
      <p:sp>
        <p:nvSpPr>
          <p:cNvPr id="8" name="Text 6"/>
          <p:cNvSpPr/>
          <p:nvPr/>
        </p:nvSpPr>
        <p:spPr>
          <a:xfrm>
            <a:off x="868680" y="3611880"/>
            <a:ext cx="2148840" cy="105156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Un second téléphone envoie un SMS d'arnaque typique au téléphone protégé.</a:t>
            </a:r>
            <a:endParaRPr lang="en-US" sz="1150" dirty="0"/>
          </a:p>
        </p:txBody>
      </p:sp>
      <p:sp>
        <p:nvSpPr>
          <p:cNvPr id="9" name="Text 7"/>
          <p:cNvSpPr/>
          <p:nvPr/>
        </p:nvSpPr>
        <p:spPr>
          <a:xfrm>
            <a:off x="3264408" y="3108960"/>
            <a:ext cx="320040" cy="457200"/>
          </a:xfrm>
          <a:prstGeom prst="rect">
            <a:avLst/>
          </a:prstGeom>
          <a:noFill/>
          <a:ln/>
        </p:spPr>
        <p:txBody>
          <a:bodyPr wrap="square" lIns="0" tIns="0" rIns="0" bIns="0" rtlCol="0" anchor="ctr"/>
          <a:lstStyle/>
          <a:p>
            <a:pPr algn="ctr" indent="0" marL="0">
              <a:buNone/>
            </a:pPr>
            <a:r>
              <a:rPr lang="en-US" sz="2200" b="1" dirty="0">
                <a:solidFill>
                  <a:srgbClr val="E8862E"/>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566160" y="2103120"/>
            <a:ext cx="2606040" cy="2651760"/>
          </a:xfrm>
          <a:prstGeom prst="roundRect">
            <a:avLst>
              <a:gd name="adj" fmla="val 3509"/>
            </a:avLst>
          </a:prstGeom>
          <a:solidFill>
            <a:srgbClr val="F3F6FA"/>
          </a:solidFill>
          <a:ln/>
        </p:spPr>
      </p:sp>
      <p:sp>
        <p:nvSpPr>
          <p:cNvPr id="11" name="Shape 9"/>
          <p:cNvSpPr/>
          <p:nvPr/>
        </p:nvSpPr>
        <p:spPr>
          <a:xfrm>
            <a:off x="3794760" y="2331720"/>
            <a:ext cx="502920" cy="502920"/>
          </a:xfrm>
          <a:prstGeom prst="ellipse">
            <a:avLst/>
          </a:prstGeom>
          <a:solidFill>
            <a:srgbClr val="0E2A47"/>
          </a:solidFill>
          <a:ln/>
        </p:spPr>
      </p:sp>
      <p:sp>
        <p:nvSpPr>
          <p:cNvPr id="12" name="Text 10"/>
          <p:cNvSpPr/>
          <p:nvPr/>
        </p:nvSpPr>
        <p:spPr>
          <a:xfrm>
            <a:off x="3794760" y="23134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3794760" y="3017520"/>
            <a:ext cx="2148840" cy="594360"/>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Capture par l'agent</a:t>
            </a:r>
            <a:endParaRPr lang="en-US" sz="1450" dirty="0"/>
          </a:p>
        </p:txBody>
      </p:sp>
      <p:sp>
        <p:nvSpPr>
          <p:cNvPr id="14" name="Text 12"/>
          <p:cNvSpPr/>
          <p:nvPr/>
        </p:nvSpPr>
        <p:spPr>
          <a:xfrm>
            <a:off x="3794760" y="3611880"/>
            <a:ext cx="2148840" cy="105156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L'application MoMoGuard intercepte le message et l'envoie au serveur.</a:t>
            </a:r>
            <a:endParaRPr lang="en-US" sz="1150" dirty="0"/>
          </a:p>
        </p:txBody>
      </p:sp>
      <p:sp>
        <p:nvSpPr>
          <p:cNvPr id="15" name="Text 13"/>
          <p:cNvSpPr/>
          <p:nvPr/>
        </p:nvSpPr>
        <p:spPr>
          <a:xfrm>
            <a:off x="6190488" y="3108960"/>
            <a:ext cx="320040" cy="457200"/>
          </a:xfrm>
          <a:prstGeom prst="rect">
            <a:avLst/>
          </a:prstGeom>
          <a:noFill/>
          <a:ln/>
        </p:spPr>
        <p:txBody>
          <a:bodyPr wrap="square" lIns="0" tIns="0" rIns="0" bIns="0" rtlCol="0" anchor="ctr"/>
          <a:lstStyle/>
          <a:p>
            <a:pPr algn="ctr" indent="0" marL="0">
              <a:buNone/>
            </a:pPr>
            <a:r>
              <a:rPr lang="en-US" sz="2200" b="1" dirty="0">
                <a:solidFill>
                  <a:srgbClr val="E8862E"/>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492240" y="2103120"/>
            <a:ext cx="2606040" cy="2651760"/>
          </a:xfrm>
          <a:prstGeom prst="roundRect">
            <a:avLst>
              <a:gd name="adj" fmla="val 3509"/>
            </a:avLst>
          </a:prstGeom>
          <a:solidFill>
            <a:srgbClr val="F3F6FA"/>
          </a:solidFill>
          <a:ln/>
        </p:spPr>
      </p:sp>
      <p:sp>
        <p:nvSpPr>
          <p:cNvPr id="17" name="Shape 15"/>
          <p:cNvSpPr/>
          <p:nvPr/>
        </p:nvSpPr>
        <p:spPr>
          <a:xfrm>
            <a:off x="6720840" y="2331720"/>
            <a:ext cx="502920" cy="502920"/>
          </a:xfrm>
          <a:prstGeom prst="ellipse">
            <a:avLst/>
          </a:prstGeom>
          <a:solidFill>
            <a:srgbClr val="0E2A47"/>
          </a:solidFill>
          <a:ln/>
        </p:spPr>
      </p:sp>
      <p:sp>
        <p:nvSpPr>
          <p:cNvPr id="18" name="Text 16"/>
          <p:cNvSpPr/>
          <p:nvPr/>
        </p:nvSpPr>
        <p:spPr>
          <a:xfrm>
            <a:off x="6720840" y="23134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6720840" y="3017520"/>
            <a:ext cx="2148840" cy="594360"/>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Alerte sur le dashboard</a:t>
            </a:r>
            <a:endParaRPr lang="en-US" sz="1450" dirty="0"/>
          </a:p>
        </p:txBody>
      </p:sp>
      <p:sp>
        <p:nvSpPr>
          <p:cNvPr id="20" name="Text 18"/>
          <p:cNvSpPr/>
          <p:nvPr/>
        </p:nvSpPr>
        <p:spPr>
          <a:xfrm>
            <a:off x="6720840" y="3611880"/>
            <a:ext cx="2148840" cy="105156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Le score et les raisons apparaissent instantanément (WebSocket), sans recharger la page.</a:t>
            </a:r>
            <a:endParaRPr lang="en-US" sz="1150" dirty="0"/>
          </a:p>
        </p:txBody>
      </p:sp>
      <p:sp>
        <p:nvSpPr>
          <p:cNvPr id="21" name="Text 19"/>
          <p:cNvSpPr/>
          <p:nvPr/>
        </p:nvSpPr>
        <p:spPr>
          <a:xfrm>
            <a:off x="9116568" y="3108960"/>
            <a:ext cx="320040" cy="457200"/>
          </a:xfrm>
          <a:prstGeom prst="rect">
            <a:avLst/>
          </a:prstGeom>
          <a:noFill/>
          <a:ln/>
        </p:spPr>
        <p:txBody>
          <a:bodyPr wrap="square" lIns="0" tIns="0" rIns="0" bIns="0" rtlCol="0" anchor="ctr"/>
          <a:lstStyle/>
          <a:p>
            <a:pPr algn="ctr" indent="0" marL="0">
              <a:buNone/>
            </a:pPr>
            <a:r>
              <a:rPr lang="en-US" sz="2200" b="1" dirty="0">
                <a:solidFill>
                  <a:srgbClr val="E8862E"/>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9418320" y="2103120"/>
            <a:ext cx="2606040" cy="2651760"/>
          </a:xfrm>
          <a:prstGeom prst="roundRect">
            <a:avLst>
              <a:gd name="adj" fmla="val 3509"/>
            </a:avLst>
          </a:prstGeom>
          <a:solidFill>
            <a:srgbClr val="F3F6FA"/>
          </a:solidFill>
          <a:ln/>
        </p:spPr>
      </p:sp>
      <p:sp>
        <p:nvSpPr>
          <p:cNvPr id="23" name="Shape 21"/>
          <p:cNvSpPr/>
          <p:nvPr/>
        </p:nvSpPr>
        <p:spPr>
          <a:xfrm>
            <a:off x="9646920" y="2331720"/>
            <a:ext cx="502920" cy="502920"/>
          </a:xfrm>
          <a:prstGeom prst="ellipse">
            <a:avLst/>
          </a:prstGeom>
          <a:solidFill>
            <a:srgbClr val="2E8C7F"/>
          </a:solidFill>
          <a:ln/>
        </p:spPr>
      </p:sp>
      <p:sp>
        <p:nvSpPr>
          <p:cNvPr id="24" name="Text 22"/>
          <p:cNvSpPr/>
          <p:nvPr/>
        </p:nvSpPr>
        <p:spPr>
          <a:xfrm>
            <a:off x="9646920" y="23134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9646920" y="3017520"/>
            <a:ext cx="2148840" cy="594360"/>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Notification à l'utilisateur</a:t>
            </a:r>
            <a:endParaRPr lang="en-US" sz="1450" dirty="0"/>
          </a:p>
        </p:txBody>
      </p:sp>
      <p:sp>
        <p:nvSpPr>
          <p:cNvPr id="26" name="Text 24"/>
          <p:cNvSpPr/>
          <p:nvPr/>
        </p:nvSpPr>
        <p:spPr>
          <a:xfrm>
            <a:off x="9646920" y="3611880"/>
            <a:ext cx="2148840" cy="105156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Le téléphone reçoit la notification push FCM d'avertissement.</a:t>
            </a:r>
            <a:endParaRPr lang="en-US" sz="1150" dirty="0"/>
          </a:p>
        </p:txBody>
      </p:sp>
      <p:sp>
        <p:nvSpPr>
          <p:cNvPr id="27" name="Shape 25"/>
          <p:cNvSpPr/>
          <p:nvPr/>
        </p:nvSpPr>
        <p:spPr>
          <a:xfrm>
            <a:off x="640080" y="5120640"/>
            <a:ext cx="11018520" cy="1005840"/>
          </a:xfrm>
          <a:prstGeom prst="roundRect">
            <a:avLst>
              <a:gd name="adj" fmla="val 8182"/>
            </a:avLst>
          </a:prstGeom>
          <a:solidFill>
            <a:srgbClr val="0E2A47"/>
          </a:solidFill>
          <a:ln/>
        </p:spPr>
      </p:sp>
      <p:sp>
        <p:nvSpPr>
          <p:cNvPr id="28" name="Text 26"/>
          <p:cNvSpPr/>
          <p:nvPr/>
        </p:nvSpPr>
        <p:spPr>
          <a:xfrm>
            <a:off x="914400" y="5257800"/>
            <a:ext cx="10424160" cy="731520"/>
          </a:xfrm>
          <a:prstGeom prst="rect">
            <a:avLst/>
          </a:prstGeom>
          <a:noFill/>
          <a:ln/>
        </p:spPr>
        <p:txBody>
          <a:bodyPr wrap="square" lIns="0" tIns="0" rIns="0" bIns="0" rtlCol="0" anchor="ctr"/>
          <a:lstStyle/>
          <a:p>
            <a:pPr indent="0" marL="0">
              <a:buNone/>
            </a:pPr>
            <a:r>
              <a:rPr lang="en-US" sz="1300" b="1" dirty="0">
                <a:solidFill>
                  <a:srgbClr val="E8862E"/>
                </a:solidFill>
                <a:latin typeface="Calibri" pitchFamily="34" charset="0"/>
                <a:ea typeface="Calibri" pitchFamily="34" charset="-122"/>
                <a:cs typeface="Calibri" pitchFamily="34" charset="-120"/>
              </a:rPr>
              <a:t>Plan B prévu : </a:t>
            </a:r>
            <a:pPr indent="0" marL="0">
              <a:buNone/>
            </a:pPr>
            <a:r>
              <a:rPr lang="en-US" sz="1300" dirty="0">
                <a:solidFill>
                  <a:srgbClr val="FFFFFF"/>
                </a:solidFill>
                <a:latin typeface="Calibri" pitchFamily="34" charset="0"/>
                <a:ea typeface="Calibri" pitchFamily="34" charset="-122"/>
                <a:cs typeface="Calibri" pitchFamily="34" charset="-120"/>
              </a:rPr>
              <a:t>bouton « Simuler une alerte » intégré au dashboard et page d'analyse manuelle — la démo fonctionne même sans réseau mobile.</a:t>
            </a:r>
            <a:endParaRPr lang="en-US" sz="1300" dirty="0"/>
          </a:p>
        </p:txBody>
      </p:sp>
      <p:sp>
        <p:nvSpPr>
          <p:cNvPr id="30" name="Text 27"/>
          <p:cNvSpPr/>
          <p:nvPr/>
        </p:nvSpPr>
        <p:spPr>
          <a:xfrm>
            <a:off x="11503152" y="640080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47"/>
        </a:solidFill>
      </p:bgPr>
    </p:bg>
    <p:spTree>
      <p:nvGrpSpPr>
        <p:cNvPr id="1" name=""/>
        <p:cNvGrpSpPr/>
        <p:nvPr/>
      </p:nvGrpSpPr>
      <p:grpSpPr>
        <a:xfrm>
          <a:off x="0" y="0"/>
          <a:ext cx="0" cy="0"/>
          <a:chOff x="0" y="0"/>
          <a:chExt cx="0" cy="0"/>
        </a:xfrm>
      </p:grpSpPr>
      <p:sp>
        <p:nvSpPr>
          <p:cNvPr id="2" name="Text 0"/>
          <p:cNvSpPr/>
          <p:nvPr/>
        </p:nvSpPr>
        <p:spPr>
          <a:xfrm>
            <a:off x="731520" y="502920"/>
            <a:ext cx="8229600" cy="320040"/>
          </a:xfrm>
          <a:prstGeom prst="rect">
            <a:avLst/>
          </a:prstGeom>
          <a:noFill/>
          <a:ln/>
        </p:spPr>
        <p:txBody>
          <a:bodyPr wrap="square" lIns="0" tIns="0" rIns="0" bIns="0" rtlCol="0" anchor="ctr"/>
          <a:lstStyle/>
          <a:p>
            <a:pPr indent="0" marL="0">
              <a:buNone/>
            </a:pPr>
            <a:r>
              <a:rPr lang="en-US" sz="1200" b="1" spc="300" kern="0" dirty="0">
                <a:solidFill>
                  <a:srgbClr val="E8862E"/>
                </a:solidFill>
                <a:latin typeface="Calibri" pitchFamily="34" charset="0"/>
                <a:ea typeface="Calibri" pitchFamily="34" charset="-122"/>
                <a:cs typeface="Calibri" pitchFamily="34" charset="-120"/>
              </a:rPr>
              <a:t>CONCLUSION &amp; PERSPECTIVES</a:t>
            </a:r>
            <a:endParaRPr lang="en-US" sz="1200" dirty="0"/>
          </a:p>
        </p:txBody>
      </p:sp>
      <p:sp>
        <p:nvSpPr>
          <p:cNvPr id="3" name="Text 1"/>
          <p:cNvSpPr/>
          <p:nvPr/>
        </p:nvSpPr>
        <p:spPr>
          <a:xfrm>
            <a:off x="731520" y="868680"/>
            <a:ext cx="106984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Une chaîne complète, mesurée et éthique</a:t>
            </a:r>
            <a:endParaRPr lang="en-US" sz="3000" dirty="0"/>
          </a:p>
        </p:txBody>
      </p:sp>
      <p:sp>
        <p:nvSpPr>
          <p:cNvPr id="4" name="Shape 2"/>
          <p:cNvSpPr/>
          <p:nvPr/>
        </p:nvSpPr>
        <p:spPr>
          <a:xfrm>
            <a:off x="731520" y="1828800"/>
            <a:ext cx="3520440" cy="3291840"/>
          </a:xfrm>
          <a:prstGeom prst="roundRect">
            <a:avLst>
              <a:gd name="adj" fmla="val 2778"/>
            </a:avLst>
          </a:prstGeom>
          <a:solidFill>
            <a:srgbClr val="16395F"/>
          </a:solidFill>
          <a:ln/>
        </p:spPr>
      </p:sp>
      <p:sp>
        <p:nvSpPr>
          <p:cNvPr id="5" name="Text 3"/>
          <p:cNvSpPr/>
          <p:nvPr/>
        </p:nvSpPr>
        <p:spPr>
          <a:xfrm>
            <a:off x="1005840" y="2057400"/>
            <a:ext cx="2971800" cy="365760"/>
          </a:xfrm>
          <a:prstGeom prst="rect">
            <a:avLst/>
          </a:prstGeom>
          <a:noFill/>
          <a:ln/>
        </p:spPr>
        <p:txBody>
          <a:bodyPr wrap="square" lIns="0" tIns="0" rIns="0" bIns="0" rtlCol="0" anchor="ctr"/>
          <a:lstStyle/>
          <a:p>
            <a:pPr indent="0" marL="0">
              <a:buNone/>
            </a:pPr>
            <a:r>
              <a:rPr lang="en-US" sz="1500" b="1" dirty="0">
                <a:solidFill>
                  <a:srgbClr val="E8862E"/>
                </a:solidFill>
                <a:latin typeface="Calibri" pitchFamily="34" charset="0"/>
                <a:ea typeface="Calibri" pitchFamily="34" charset="-122"/>
                <a:cs typeface="Calibri" pitchFamily="34" charset="-120"/>
              </a:rPr>
              <a:t>Acquis</a:t>
            </a:r>
            <a:endParaRPr lang="en-US" sz="1500" dirty="0"/>
          </a:p>
        </p:txBody>
      </p:sp>
      <p:sp>
        <p:nvSpPr>
          <p:cNvPr id="6" name="Text 4"/>
          <p:cNvSpPr/>
          <p:nvPr/>
        </p:nvSpPr>
        <p:spPr>
          <a:xfrm>
            <a:off x="1005840" y="2514600"/>
            <a:ext cx="3017520" cy="246888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E8EEF5"/>
                </a:solidFill>
                <a:latin typeface="Calibri" pitchFamily="34" charset="0"/>
                <a:ea typeface="Calibri" pitchFamily="34" charset="-122"/>
                <a:cs typeface="Calibri" pitchFamily="34" charset="-120"/>
              </a:rPr>
              <a:t>Détection explicable : 96,2 % de rappel, 0 faux positif</a:t>
            </a:r>
            <a:endParaRPr lang="en-US" sz="1150" dirty="0"/>
          </a:p>
          <a:p>
            <a:pPr marL="152400" indent="-152400">
              <a:spcAft>
                <a:spcPts val="800"/>
              </a:spcAft>
              <a:buSzPct val="100000"/>
              <a:buChar char="▪"/>
            </a:pPr>
            <a:r>
              <a:rPr lang="en-US" sz="1150" dirty="0">
                <a:solidFill>
                  <a:srgbClr val="E8EEF5"/>
                </a:solidFill>
                <a:latin typeface="Calibri" pitchFamily="34" charset="0"/>
                <a:ea typeface="Calibri" pitchFamily="34" charset="-122"/>
                <a:cs typeface="Calibri" pitchFamily="34" charset="-120"/>
              </a:rPr>
              <a:t>Chaîne temps réel de bout en bout (SMS → dashboard → push)</a:t>
            </a:r>
            <a:endParaRPr lang="en-US" sz="1150" dirty="0"/>
          </a:p>
          <a:p>
            <a:pPr marL="152400" indent="-152400">
              <a:spcAft>
                <a:spcPts val="800"/>
              </a:spcAft>
              <a:buSzPct val="100000"/>
              <a:buChar char="▪"/>
            </a:pPr>
            <a:r>
              <a:rPr lang="en-US" sz="1150" dirty="0">
                <a:solidFill>
                  <a:srgbClr val="E8EEF5"/>
                </a:solidFill>
                <a:latin typeface="Calibri" pitchFamily="34" charset="0"/>
                <a:ea typeface="Calibri" pitchFamily="34" charset="-122"/>
                <a:cs typeface="Calibri" pitchFamily="34" charset="-120"/>
              </a:rPr>
              <a:t>Cadre éthique : consentement, audit, 58 tests</a:t>
            </a:r>
            <a:endParaRPr lang="en-US" sz="1150" dirty="0"/>
          </a:p>
        </p:txBody>
      </p:sp>
      <p:sp>
        <p:nvSpPr>
          <p:cNvPr id="7" name="Shape 5"/>
          <p:cNvSpPr/>
          <p:nvPr/>
        </p:nvSpPr>
        <p:spPr>
          <a:xfrm>
            <a:off x="4434840" y="1828800"/>
            <a:ext cx="3520440" cy="3291840"/>
          </a:xfrm>
          <a:prstGeom prst="roundRect">
            <a:avLst>
              <a:gd name="adj" fmla="val 2778"/>
            </a:avLst>
          </a:prstGeom>
          <a:solidFill>
            <a:srgbClr val="16395F"/>
          </a:solidFill>
          <a:ln/>
        </p:spPr>
      </p:sp>
      <p:sp>
        <p:nvSpPr>
          <p:cNvPr id="8" name="Text 6"/>
          <p:cNvSpPr/>
          <p:nvPr/>
        </p:nvSpPr>
        <p:spPr>
          <a:xfrm>
            <a:off x="4709160" y="2057400"/>
            <a:ext cx="2971800" cy="365760"/>
          </a:xfrm>
          <a:prstGeom prst="rect">
            <a:avLst/>
          </a:prstGeom>
          <a:noFill/>
          <a:ln/>
        </p:spPr>
        <p:txBody>
          <a:bodyPr wrap="square" lIns="0" tIns="0" rIns="0" bIns="0" rtlCol="0" anchor="ctr"/>
          <a:lstStyle/>
          <a:p>
            <a:pPr indent="0" marL="0">
              <a:buNone/>
            </a:pPr>
            <a:r>
              <a:rPr lang="en-US" sz="1500" b="1" dirty="0">
                <a:solidFill>
                  <a:srgbClr val="E8862E"/>
                </a:solidFill>
                <a:latin typeface="Calibri" pitchFamily="34" charset="0"/>
                <a:ea typeface="Calibri" pitchFamily="34" charset="-122"/>
                <a:cs typeface="Calibri" pitchFamily="34" charset="-120"/>
              </a:rPr>
              <a:t>Limites assumées</a:t>
            </a:r>
            <a:endParaRPr lang="en-US" sz="1500" dirty="0"/>
          </a:p>
        </p:txBody>
      </p:sp>
      <p:sp>
        <p:nvSpPr>
          <p:cNvPr id="9" name="Text 7"/>
          <p:cNvSpPr/>
          <p:nvPr/>
        </p:nvSpPr>
        <p:spPr>
          <a:xfrm>
            <a:off x="4709160" y="2514600"/>
            <a:ext cx="3017520" cy="246888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E8EEF5"/>
                </a:solidFill>
                <a:latin typeface="Calibri" pitchFamily="34" charset="0"/>
                <a:ea typeface="Calibri" pitchFamily="34" charset="-122"/>
                <a:cs typeface="Calibri" pitchFamily="34" charset="-120"/>
              </a:rPr>
              <a:t>Jeu d'évaluation réduit (48 messages)</a:t>
            </a:r>
            <a:endParaRPr lang="en-US" sz="1150" dirty="0"/>
          </a:p>
          <a:p>
            <a:pPr marL="152400" indent="-152400">
              <a:spcAft>
                <a:spcPts val="800"/>
              </a:spcAft>
              <a:buSzPct val="100000"/>
              <a:buChar char="▪"/>
            </a:pPr>
            <a:r>
              <a:rPr lang="en-US" sz="1150" dirty="0">
                <a:solidFill>
                  <a:srgbClr val="E8EEF5"/>
                </a:solidFill>
                <a:latin typeface="Calibri" pitchFamily="34" charset="0"/>
                <a:ea typeface="Calibri" pitchFamily="34" charset="-122"/>
                <a:cs typeface="Calibri" pitchFamily="34" charset="-120"/>
              </a:rPr>
              <a:t>Règles statiques face à des fraudes qui évoluent</a:t>
            </a:r>
            <a:endParaRPr lang="en-US" sz="1150" dirty="0"/>
          </a:p>
          <a:p>
            <a:pPr marL="152400" indent="-152400">
              <a:spcAft>
                <a:spcPts val="800"/>
              </a:spcAft>
              <a:buSzPct val="100000"/>
              <a:buChar char="▪"/>
            </a:pPr>
            <a:r>
              <a:rPr lang="en-US" sz="1150" dirty="0">
                <a:solidFill>
                  <a:srgbClr val="E8EEF5"/>
                </a:solidFill>
                <a:latin typeface="Calibri" pitchFamily="34" charset="0"/>
                <a:ea typeface="Calibri" pitchFamily="34" charset="-122"/>
                <a:cs typeface="Calibri" pitchFamily="34" charset="-120"/>
              </a:rPr>
              <a:t>Android et Windows uniquement</a:t>
            </a:r>
            <a:endParaRPr lang="en-US" sz="1150" dirty="0"/>
          </a:p>
        </p:txBody>
      </p:sp>
      <p:sp>
        <p:nvSpPr>
          <p:cNvPr id="10" name="Shape 8"/>
          <p:cNvSpPr/>
          <p:nvPr/>
        </p:nvSpPr>
        <p:spPr>
          <a:xfrm>
            <a:off x="8138160" y="1828800"/>
            <a:ext cx="3520440" cy="3291840"/>
          </a:xfrm>
          <a:prstGeom prst="roundRect">
            <a:avLst>
              <a:gd name="adj" fmla="val 2778"/>
            </a:avLst>
          </a:prstGeom>
          <a:solidFill>
            <a:srgbClr val="16395F"/>
          </a:solidFill>
          <a:ln/>
        </p:spPr>
      </p:sp>
      <p:sp>
        <p:nvSpPr>
          <p:cNvPr id="11" name="Text 9"/>
          <p:cNvSpPr/>
          <p:nvPr/>
        </p:nvSpPr>
        <p:spPr>
          <a:xfrm>
            <a:off x="8412480" y="2057400"/>
            <a:ext cx="2971800" cy="365760"/>
          </a:xfrm>
          <a:prstGeom prst="rect">
            <a:avLst/>
          </a:prstGeom>
          <a:noFill/>
          <a:ln/>
        </p:spPr>
        <p:txBody>
          <a:bodyPr wrap="square" lIns="0" tIns="0" rIns="0" bIns="0" rtlCol="0" anchor="ctr"/>
          <a:lstStyle/>
          <a:p>
            <a:pPr indent="0" marL="0">
              <a:buNone/>
            </a:pPr>
            <a:r>
              <a:rPr lang="en-US" sz="1500" b="1" dirty="0">
                <a:solidFill>
                  <a:srgbClr val="E8862E"/>
                </a:solidFill>
                <a:latin typeface="Calibri" pitchFamily="34" charset="0"/>
                <a:ea typeface="Calibri" pitchFamily="34" charset="-122"/>
                <a:cs typeface="Calibri" pitchFamily="34" charset="-120"/>
              </a:rPr>
              <a:t>Perspectives</a:t>
            </a:r>
            <a:endParaRPr lang="en-US" sz="1500" dirty="0"/>
          </a:p>
        </p:txBody>
      </p:sp>
      <p:sp>
        <p:nvSpPr>
          <p:cNvPr id="12" name="Text 10"/>
          <p:cNvSpPr/>
          <p:nvPr/>
        </p:nvSpPr>
        <p:spPr>
          <a:xfrm>
            <a:off x="8412480" y="2514600"/>
            <a:ext cx="3017520" cy="246888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E8EEF5"/>
                </a:solidFill>
                <a:latin typeface="Calibri" pitchFamily="34" charset="0"/>
                <a:ea typeface="Calibri" pitchFamily="34" charset="-122"/>
                <a:cs typeface="Calibri" pitchFamily="34" charset="-120"/>
              </a:rPr>
              <a:t>Étendre le dataset et le collecter sur le terrain</a:t>
            </a:r>
            <a:endParaRPr lang="en-US" sz="1150" dirty="0"/>
          </a:p>
          <a:p>
            <a:pPr marL="152400" indent="-152400">
              <a:spcAft>
                <a:spcPts val="800"/>
              </a:spcAft>
              <a:buSzPct val="100000"/>
              <a:buChar char="▪"/>
            </a:pPr>
            <a:r>
              <a:rPr lang="en-US" sz="1150" dirty="0">
                <a:solidFill>
                  <a:srgbClr val="E8EEF5"/>
                </a:solidFill>
                <a:latin typeface="Calibri" pitchFamily="34" charset="0"/>
                <a:ea typeface="Calibri" pitchFamily="34" charset="-122"/>
                <a:cs typeface="Calibri" pitchFamily="34" charset="-120"/>
              </a:rPr>
              <a:t>Hybrider règles + apprentissage automatique</a:t>
            </a:r>
            <a:endParaRPr lang="en-US" sz="1150" dirty="0"/>
          </a:p>
          <a:p>
            <a:pPr marL="152400" indent="-152400">
              <a:spcAft>
                <a:spcPts val="800"/>
              </a:spcAft>
              <a:buSzPct val="100000"/>
              <a:buChar char="▪"/>
            </a:pPr>
            <a:r>
              <a:rPr lang="en-US" sz="1150" dirty="0">
                <a:solidFill>
                  <a:srgbClr val="E8EEF5"/>
                </a:solidFill>
                <a:latin typeface="Calibri" pitchFamily="34" charset="0"/>
                <a:ea typeface="Calibri" pitchFamily="34" charset="-122"/>
                <a:cs typeface="Calibri" pitchFamily="34" charset="-120"/>
              </a:rPr>
              <a:t>Agent iOS ; partenariat avec les opérateurs</a:t>
            </a:r>
            <a:endParaRPr lang="en-US" sz="1150" dirty="0"/>
          </a:p>
        </p:txBody>
      </p:sp>
      <p:sp>
        <p:nvSpPr>
          <p:cNvPr id="13" name="Text 11"/>
          <p:cNvSpPr/>
          <p:nvPr/>
        </p:nvSpPr>
        <p:spPr>
          <a:xfrm>
            <a:off x="731520" y="5623560"/>
            <a:ext cx="10698480" cy="502920"/>
          </a:xfrm>
          <a:prstGeom prst="rect">
            <a:avLst/>
          </a:prstGeom>
          <a:noFill/>
          <a:ln/>
        </p:spPr>
        <p:txBody>
          <a:bodyPr wrap="square" lIns="0" tIns="0" rIns="0" bIns="0" rtlCol="0" anchor="ctr"/>
          <a:lstStyle/>
          <a:p>
            <a:pPr indent="0" marL="0">
              <a:buNone/>
            </a:pPr>
            <a:r>
              <a:rPr lang="en-US" sz="2000" i="1" dirty="0">
                <a:solidFill>
                  <a:srgbClr val="CADCFC"/>
                </a:solidFill>
                <a:latin typeface="Cambria" pitchFamily="34" charset="0"/>
                <a:ea typeface="Cambria" pitchFamily="34" charset="-122"/>
                <a:cs typeface="Cambria" pitchFamily="34" charset="-120"/>
              </a:rPr>
              <a:t>Merci de votre attention — place aux questions.</a:t>
            </a:r>
            <a:endParaRPr lang="en-US" sz="2000" dirty="0"/>
          </a:p>
        </p:txBody>
      </p:sp>
      <p:sp>
        <p:nvSpPr>
          <p:cNvPr id="15" name="Text 12"/>
          <p:cNvSpPr/>
          <p:nvPr/>
        </p:nvSpPr>
        <p:spPr>
          <a:xfrm>
            <a:off x="11503152" y="640080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2026-07-12T11:27:21Z</dcterms:created>
  <dcterms:modified xsi:type="dcterms:W3CDTF">2026-07-12T11:27:21Z</dcterms:modified>
</cp:coreProperties>
</file>